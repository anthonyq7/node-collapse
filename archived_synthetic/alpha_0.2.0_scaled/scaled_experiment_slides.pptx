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Citation Bias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32004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Scaled Experiment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Qin  ·  03/09/2026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 — Step 1: Estimate Token Sizes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paper token size (from Node 0, after removing system prompt overhead):</a:t>
            </a:r>
            <a:endParaRPr lang="en-US" sz="1300" dirty="0"/>
          </a:p>
        </p:txBody>
      </p:sp>
      <p:pic>
        <p:nvPicPr>
          <p:cNvPr id="7" name="Image 0" descr="/sessions/practical-kind-brown/latex_renders/e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17320"/>
            <a:ext cx="1670858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423160"/>
            <a:ext cx="64008" cy="10972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468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Per-prompt LLM paper token size (nodes 1–2, using exact paper counts):</a:t>
            </a:r>
            <a:endParaRPr lang="en-US" sz="1300" dirty="0"/>
          </a:p>
        </p:txBody>
      </p:sp>
      <p:pic>
        <p:nvPicPr>
          <p:cNvPr id="11" name="Image 1" descr="/sessions/practical-kind-brown/latex_renders/eq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88920"/>
            <a:ext cx="2310533" cy="6400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3794760"/>
            <a:ext cx="64008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3840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across all M prompts in nodes 1–2:</a:t>
            </a:r>
            <a:endParaRPr lang="en-US" sz="1300" dirty="0"/>
          </a:p>
        </p:txBody>
      </p:sp>
      <p:pic>
        <p:nvPicPr>
          <p:cNvPr id="15" name="Image 2" descr="/sessions/practical-kind-brown/latex_renders/eq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60520"/>
            <a:ext cx="1461911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 — Step 2: Average Seed Fraction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2344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fraction at node j (nodes indexed j = 0, 1, ..., k−1):</a:t>
            </a:r>
            <a:endParaRPr lang="en-US" sz="1300" dirty="0"/>
          </a:p>
        </p:txBody>
      </p:sp>
      <p:pic>
        <p:nvPicPr>
          <p:cNvPr id="7" name="Image 0" descr="/sessions/practical-kind-brown/latex_renders/eq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1739941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5603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560320"/>
            <a:ext cx="64008" cy="12344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606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uniformly across all k nodes (each node generates exactly g papers):</a:t>
            </a:r>
            <a:endParaRPr lang="en-US" sz="1300" dirty="0"/>
          </a:p>
        </p:txBody>
      </p:sp>
      <p:pic>
        <p:nvPicPr>
          <p:cNvPr id="11" name="Image 1" descr="/sessions/practical-kind-brown/latex_renders/eq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71800"/>
            <a:ext cx="1849211" cy="685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4069080"/>
            <a:ext cx="64008" cy="7772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4114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pool grows across nodes, the seed fraction decreases — early nodes see mostly seed papers, while later nodes are dominated by LLM-generated content.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 — Step 3: Total Experiment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37160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6" name="Image 0" descr="/sessions/practical-kind-brown/latex_renders/eq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777" y="1234440"/>
            <a:ext cx="6596446" cy="777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697480"/>
            <a:ext cx="64008" cy="10972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7432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fixed overhead per prompt, independent of pool composition. The compositional shift between seed and LLM papers across nodes is captured by s̄(n); its effect on cost depends on the empirically measured gap between t̂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t̂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4069080"/>
            <a:ext cx="64008" cy="777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4114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most volatile pilot estimate — LLM-generated abstracts vary in length across runs. We report both a conservative (pilot) and pessimistic (+20%) scenario.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Constants — Measured &amp; Tracked</a:t>
            </a:r>
            <a:endParaRPr lang="en-US" sz="2200" dirty="0"/>
          </a:p>
        </p:txBody>
      </p:sp>
      <p:pic>
        <p:nvPicPr>
          <p:cNvPr id="4" name="Image 0" descr="/sessions/practical-kind-brown/latex_renders/tab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897" y="1005840"/>
            <a:ext cx="5734207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Constants — Estimated, Derived, Design</a:t>
            </a:r>
            <a:endParaRPr lang="en-US" sz="2200" dirty="0"/>
          </a:p>
        </p:txBody>
      </p:sp>
      <p:pic>
        <p:nvPicPr>
          <p:cNvPr id="4" name="Image 0" descr="/sessions/practical-kind-brown/latex_renders/tabl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040" y="1005840"/>
            <a:ext cx="4457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Growth Rate — O(N) Scaling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2011680"/>
          </a:xfrm>
          <a:prstGeom prst="rect">
            <a:avLst/>
          </a:prstGeom>
          <a:solidFill>
            <a:srgbClr val="3D2B1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practical-kind-brown/latex_renders/eq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53871"/>
            <a:ext cx="2743200" cy="2984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0" y="1097280"/>
            <a:ext cx="44805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206240" y="1097280"/>
            <a:ext cx="64008" cy="20116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8" name="Text 5"/>
          <p:cNvSpPr/>
          <p:nvPr/>
        </p:nvSpPr>
        <p:spPr>
          <a:xfrm>
            <a:off x="4480560" y="1188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 ∝ n and p is fixed, the n in the numerator and denominator of every term in s̄(n) cancels, making s̄ constant. Total prompts g·k then grow linearly in 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383280"/>
            <a:ext cx="64008" cy="137160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474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when: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∝ n  (papers/node scales with seeds)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fixed  (prompt sample size constant)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3383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3383280"/>
            <a:ext cx="64008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3474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scales with n  (super-linear prompt cost)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is fixed while n grows  (s̄ no longer cancels)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vs Actual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$10.75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estimate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$11.06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scenario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solidFill>
            <a:srgbClr val="3D2B1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560320" cy="41148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$9.98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12648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experiment cost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40480"/>
            <a:ext cx="64008" cy="91440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31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came in $0.77 under conservative and $1.08 under pessimistic.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model over-estimated by ~7–10%, a comfortable margin for budgeting.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Scaled Experiment — Design Changes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1460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 (up from 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97280"/>
            <a:ext cx="2514600" cy="3200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097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PAPERS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1508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15468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arXiv papers (up from 30)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09728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097280"/>
            <a:ext cx="251460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097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/ NODE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1508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85216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 node (up from 30)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2514600" cy="3200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per prompt (unchanged)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4680" y="28803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80360"/>
            <a:ext cx="251460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546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15468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(same)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52160" y="28803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2880360"/>
            <a:ext cx="2514600" cy="3200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4×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85216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increase in experiment size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— Main Experiment: Citation Concentration</a:t>
            </a:r>
            <a:endParaRPr lang="en-US" sz="2000" dirty="0"/>
          </a:p>
        </p:txBody>
      </p:sp>
      <p:pic>
        <p:nvPicPr>
          <p:cNvPr id="4" name="Image 0" descr="/sessions/practical-kind-brown/mnt/alpha_0.2.0_scaled/output/master/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674" y="1051560"/>
            <a:ext cx="6046651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94760"/>
            <a:ext cx="64008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0’s top 20 papers capture 22.4% of citations — this drops steadily to ~5% by Node 11, indicating early seed papers dominate and concentration dilutes as the pool grows.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— Main: False Positives (Hallucinations)</a:t>
            </a:r>
            <a:endParaRPr lang="en-US" sz="2000" dirty="0"/>
          </a:p>
        </p:txBody>
      </p:sp>
      <p:pic>
        <p:nvPicPr>
          <p:cNvPr id="4" name="Image 0" descr="/sessions/practical-kind-brown/mnt/alpha_0.2.0_scaled/output/master/false_positive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600" y="1051560"/>
            <a:ext cx="6506801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94760"/>
            <a:ext cx="64008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remain low (FP rate 0.001–0.006 across nodes). Node 5 peaks at 17 hallucinated citations but rates stay well under 1%, showing the LLM rarely fabricates references.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— Main Experiment: False Negatives (Exclusion Rate)</a:t>
            </a:r>
            <a:endParaRPr lang="en-US" sz="2000" dirty="0"/>
          </a:p>
        </p:txBody>
      </p:sp>
      <p:pic>
        <p:nvPicPr>
          <p:cNvPr id="4" name="Image 0" descr="/sessions/practical-kind-brown/mnt/alpha_0.2.0_scaled/output/analysis_figures/exclusion_rate_by_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134" y="1051560"/>
            <a:ext cx="5143732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94760"/>
            <a:ext cx="64008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rate rises from 0% at Node 0 to 20.5% by Node 11. Most uncited papers were "never shown" rather than shown-but-ignored, reflecting sampling limitations as the pool grows large.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— Random Citer: Citation Concentration</a:t>
            </a:r>
            <a:endParaRPr lang="en-US" sz="2000" dirty="0"/>
          </a:p>
        </p:txBody>
      </p:sp>
      <p:pic>
        <p:nvPicPr>
          <p:cNvPr id="4" name="Image 0" descr="/sessions/practical-kind-brown/mnt/alpha_0.2.0_scaled/random_output/master/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674" y="1051560"/>
            <a:ext cx="6046651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94760"/>
            <a:ext cx="64008" cy="91440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citer shows a very similar concentration pattern — top 20 at Node 0 capture 21.5% vs 22.4% in main. Both dilute to ~4–5% by Node 11.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— Random: False Positives (Hallucinations)</a:t>
            </a:r>
            <a:endParaRPr lang="en-US" sz="2000" dirty="0"/>
          </a:p>
        </p:txBody>
      </p:sp>
      <p:pic>
        <p:nvPicPr>
          <p:cNvPr id="4" name="Image 0" descr="/sessions/practical-kind-brown/mnt/alpha_0.2.0_scaled/random_output/master/false_positive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600" y="1051560"/>
            <a:ext cx="6506801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94760"/>
            <a:ext cx="64008" cy="91440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hallucinations across all 12 nodes. The random citer assigns citations uniformly at random — it never fabricates, as expected since it only picks from existing papers.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— Random Citer: False Negatives (Exclusion Rate)</a:t>
            </a:r>
            <a:endParaRPr lang="en-US" sz="2000" dirty="0"/>
          </a:p>
        </p:txBody>
      </p:sp>
      <p:pic>
        <p:nvPicPr>
          <p:cNvPr id="4" name="Image 0" descr="/sessions/practical-kind-brown/mnt/alpha_0.2.0_scaled/random_output/analysis_figures/exclusion_rate_by_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134" y="1051560"/>
            <a:ext cx="5143732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94760"/>
            <a:ext cx="64008" cy="91440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citer exclusion rises to 17.1% at Node 11 vs 20.5% in main experiment. The LLM excludes slightly more papers than random chance would predict, hinting at selective citation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4A3A3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82296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 validated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4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 ($9.98) came in 7–10% below projections ($10.75–$11.06). O(n) scaling confirmed — the model is reliable for budgeting future scale-ups.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solidFill>
            <a:srgbClr val="4A3A3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57400"/>
            <a:ext cx="64008" cy="82296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dilutes at scale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4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concentration follows the same decay pattern at 4× scale: top papers dominate early but dilute as the pool grows. Main and random baselines show similar structural decay.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4A3A3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017520"/>
            <a:ext cx="64008" cy="82296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632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stay low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4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LLM’s FP rate remains ≤ 0.6% even at 12 nodes and 1,440 total papers. The random citer produces zero hallucinations — a useful clean baseline.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4A3A3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977640"/>
            <a:ext cx="64008" cy="82296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233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grows with pool size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4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Node 11, ~20% of papers go uncited in the main experiment (vs 17% random). Most are never-shown rather than shown-and-ignored, suggesting sampling is the bottleneck — but the LLM is slightly more selective than random.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Citation Bias — Scaled Experiment</dc:title>
  <dc:subject>PptxGenJS Presentation</dc:subject>
  <dc:creator>Anthony Qin</dc:creator>
  <cp:lastModifiedBy>Anthony Qin</cp:lastModifiedBy>
  <cp:revision>1</cp:revision>
  <dcterms:created xsi:type="dcterms:W3CDTF">2026-03-09T06:07:02Z</dcterms:created>
  <dcterms:modified xsi:type="dcterms:W3CDTF">2026-03-09T06:07:02Z</dcterms:modified>
</cp:coreProperties>
</file>