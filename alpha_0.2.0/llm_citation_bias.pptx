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0" r:id="rId5"/>
    <p:sldId id="257" r:id="rId6"/>
    <p:sldId id="261" r:id="rId7"/>
    <p:sldId id="273" r:id="rId24"/>
    <p:sldId id="274" r:id="rId25"/>
    <p:sldId id="262" r:id="rId8"/>
    <p:sldId id="263" r:id="rId9"/>
    <p:sldId id="264" r:id="rId10"/>
    <p:sldId id="265" r:id="rId11"/>
    <p:sldId id="266" r:id="rId12"/>
    <p:sldId id="267" r:id="rId13"/>
    <p:sldId id="268" r:id="rId14"/>
    <p:sldId id="269" r:id="rId15"/>
    <p:sldId id="270" r:id="rId16"/>
    <p:sldId id="271" r:id="rId17"/>
    <p:sldId id="275" r:id="rId26"/>
    <p:sldId id="272" r:id="rId18"/>
    <p:sldId id="276"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274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txBody>
          <a:bodyPr/>
          <a:lstStyle/>
          <a:p>
            <a:endParaRPr lang="en-US"/>
          </a:p>
        </p:txBody>
      </p:sp>
      <p:sp>
        <p:nvSpPr>
          <p:cNvPr id="3" name="Shape 1"/>
          <p:cNvSpPr/>
          <p:nvPr/>
        </p:nvSpPr>
        <p:spPr>
          <a:xfrm>
            <a:off x="0" y="4503420"/>
            <a:ext cx="9144000" cy="640080"/>
          </a:xfrm>
          <a:prstGeom prst="rect">
            <a:avLst/>
          </a:prstGeom>
          <a:solidFill>
            <a:srgbClr val="070F1C"/>
          </a:solidFill>
          <a:ln w="12700">
            <a:solidFill>
              <a:srgbClr val="070F1C"/>
            </a:solidFill>
            <a:prstDash val="solid"/>
          </a:ln>
        </p:spPr>
        <p:txBody>
          <a:bodyPr/>
          <a:lstStyle/>
          <a:p>
            <a:endParaRPr lang="en-US"/>
          </a:p>
        </p:txBody>
      </p:sp>
      <p:sp>
        <p:nvSpPr>
          <p:cNvPr id="4" name="Text 2"/>
          <p:cNvSpPr/>
          <p:nvPr/>
        </p:nvSpPr>
        <p:spPr>
          <a:xfrm>
            <a:off x="256032" y="777240"/>
            <a:ext cx="8595360" cy="146304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LLM Citation Bias</a:t>
            </a:r>
            <a:endParaRPr lang="en-US" sz="6400" dirty="0"/>
          </a:p>
        </p:txBody>
      </p:sp>
      <p:sp>
        <p:nvSpPr>
          <p:cNvPr id="5" name="Shape 3"/>
          <p:cNvSpPr/>
          <p:nvPr/>
        </p:nvSpPr>
        <p:spPr>
          <a:xfrm>
            <a:off x="256032" y="2331720"/>
            <a:ext cx="6583680" cy="0"/>
          </a:xfrm>
          <a:prstGeom prst="line">
            <a:avLst/>
          </a:prstGeom>
          <a:noFill/>
          <a:ln w="38100">
            <a:solidFill>
              <a:srgbClr val="0891B2"/>
            </a:solidFill>
            <a:prstDash val="solid"/>
          </a:ln>
        </p:spPr>
        <p:txBody>
          <a:bodyPr/>
          <a:lstStyle/>
          <a:p>
            <a:endParaRPr lang="en-US"/>
          </a:p>
        </p:txBody>
      </p:sp>
      <p:sp>
        <p:nvSpPr>
          <p:cNvPr id="6" name="Text 4"/>
          <p:cNvSpPr/>
          <p:nvPr/>
        </p:nvSpPr>
        <p:spPr>
          <a:xfrm>
            <a:off x="256032" y="2468880"/>
            <a:ext cx="8595360" cy="685800"/>
          </a:xfrm>
          <a:prstGeom prst="rect">
            <a:avLst/>
          </a:prstGeom>
          <a:noFill/>
          <a:ln/>
        </p:spPr>
        <p:txBody>
          <a:bodyPr wrap="square" lIns="0" tIns="0" rIns="0" bIns="0" rtlCol="0" anchor="ctr"/>
          <a:lstStyle/>
          <a:p>
            <a:pPr marL="0" indent="0">
              <a:buNone/>
            </a:pPr>
            <a:r>
              <a:rPr lang="en-US" sz="2000" dirty="0">
                <a:solidFill>
                  <a:srgbClr val="BAE6FD"/>
                </a:solidFill>
                <a:latin typeface="Calibri" pitchFamily="34" charset="0"/>
                <a:ea typeface="Calibri" pitchFamily="34" charset="-122"/>
                <a:cs typeface="Calibri" pitchFamily="34" charset="-120"/>
              </a:rPr>
              <a:t>A Compounding Inequality in AI-Generated Academic Text</a:t>
            </a:r>
            <a:endParaRPr lang="en-US" sz="2000" dirty="0"/>
          </a:p>
        </p:txBody>
      </p:sp>
      <p:sp>
        <p:nvSpPr>
          <p:cNvPr id="7" name="Text 5"/>
          <p:cNvSpPr/>
          <p:nvPr/>
        </p:nvSpPr>
        <p:spPr>
          <a:xfrm>
            <a:off x="256032" y="3246120"/>
            <a:ext cx="8595360" cy="41148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Multi-Generational Citation Propagation Experiment  ·  GPT-4.5-mini  ·  Knowledge Distillation</a:t>
            </a:r>
            <a:endParaRPr lang="en-US" sz="1300" dirty="0"/>
          </a:p>
        </p:txBody>
      </p:sp>
      <p:sp>
        <p:nvSpPr>
          <p:cNvPr id="8" name="Text 6"/>
          <p:cNvSpPr/>
          <p:nvPr/>
        </p:nvSpPr>
        <p:spPr>
          <a:xfrm>
            <a:off x="25603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30</a:t>
            </a:r>
            <a:endParaRPr lang="en-US" sz="1400" dirty="0"/>
          </a:p>
        </p:txBody>
      </p:sp>
      <p:sp>
        <p:nvSpPr>
          <p:cNvPr id="9" name="Text 7"/>
          <p:cNvSpPr/>
          <p:nvPr/>
        </p:nvSpPr>
        <p:spPr>
          <a:xfrm>
            <a:off x="75895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Seed Papers</a:t>
            </a:r>
            <a:endParaRPr lang="en-US" sz="1200" dirty="0"/>
          </a:p>
        </p:txBody>
      </p:sp>
      <p:sp>
        <p:nvSpPr>
          <p:cNvPr id="10" name="Text 8"/>
          <p:cNvSpPr/>
          <p:nvPr/>
        </p:nvSpPr>
        <p:spPr>
          <a:xfrm>
            <a:off x="245059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6</a:t>
            </a:r>
            <a:endParaRPr lang="en-US" sz="1400" dirty="0"/>
          </a:p>
        </p:txBody>
      </p:sp>
      <p:sp>
        <p:nvSpPr>
          <p:cNvPr id="11" name="Text 9"/>
          <p:cNvSpPr/>
          <p:nvPr/>
        </p:nvSpPr>
        <p:spPr>
          <a:xfrm>
            <a:off x="295351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Generations</a:t>
            </a:r>
            <a:endParaRPr lang="en-US" sz="1200" dirty="0"/>
          </a:p>
        </p:txBody>
      </p:sp>
      <p:sp>
        <p:nvSpPr>
          <p:cNvPr id="12" name="Text 10"/>
          <p:cNvSpPr/>
          <p:nvPr/>
        </p:nvSpPr>
        <p:spPr>
          <a:xfrm>
            <a:off x="464515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210</a:t>
            </a:r>
            <a:endParaRPr lang="en-US" sz="1400" dirty="0"/>
          </a:p>
        </p:txBody>
      </p:sp>
      <p:sp>
        <p:nvSpPr>
          <p:cNvPr id="13" name="Text 11"/>
          <p:cNvSpPr/>
          <p:nvPr/>
        </p:nvSpPr>
        <p:spPr>
          <a:xfrm>
            <a:off x="514807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Papers Total</a:t>
            </a:r>
            <a:endParaRPr lang="en-US" sz="1200" dirty="0"/>
          </a:p>
        </p:txBody>
      </p:sp>
      <p:sp>
        <p:nvSpPr>
          <p:cNvPr id="14" name="Text 12"/>
          <p:cNvSpPr/>
          <p:nvPr/>
        </p:nvSpPr>
        <p:spPr>
          <a:xfrm>
            <a:off x="683971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~4,255</a:t>
            </a:r>
            <a:endParaRPr lang="en-US" sz="1400" dirty="0"/>
          </a:p>
        </p:txBody>
      </p:sp>
      <p:sp>
        <p:nvSpPr>
          <p:cNvPr id="15" name="Text 13"/>
          <p:cNvSpPr/>
          <p:nvPr/>
        </p:nvSpPr>
        <p:spPr>
          <a:xfrm>
            <a:off x="734263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Citations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Terms &amp; Definitions</a:t>
            </a:r>
            <a:endParaRPr lang="en-US" sz="2000" dirty="0"/>
          </a:p>
        </p:txBody>
      </p:sp>
      <p:sp>
        <p:nvSpPr>
          <p:cNvPr id="5" name="Shape 3"/>
          <p:cNvSpPr/>
          <p:nvPr/>
        </p:nvSpPr>
        <p:spPr>
          <a:xfrm>
            <a:off x="91440" y="777240"/>
            <a:ext cx="4297680" cy="192024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91440" y="777240"/>
            <a:ext cx="54864" cy="1920240"/>
          </a:xfrm>
          <a:prstGeom prst="rect">
            <a:avLst/>
          </a:prstGeom>
          <a:solidFill>
            <a:srgbClr val="EA580C"/>
          </a:solidFill>
          <a:ln w="12700">
            <a:solidFill>
              <a:srgbClr val="EA580C"/>
            </a:solidFill>
            <a:prstDash val="solid"/>
          </a:ln>
        </p:spPr>
        <p:txBody>
          <a:bodyPr/>
          <a:lstStyle/>
          <a:p>
            <a:endParaRPr lang="en-US"/>
          </a:p>
        </p:txBody>
      </p:sp>
      <p:sp>
        <p:nvSpPr>
          <p:cNvPr id="7" name="Shape 5"/>
          <p:cNvSpPr/>
          <p:nvPr/>
        </p:nvSpPr>
        <p:spPr>
          <a:xfrm>
            <a:off x="219456" y="868680"/>
            <a:ext cx="2103120" cy="246888"/>
          </a:xfrm>
          <a:prstGeom prst="rect">
            <a:avLst/>
          </a:prstGeom>
          <a:solidFill>
            <a:srgbClr val="EA580C"/>
          </a:solidFill>
          <a:ln w="12700">
            <a:solidFill>
              <a:srgbClr val="EA580C"/>
            </a:solidFill>
            <a:prstDash val="solid"/>
          </a:ln>
        </p:spPr>
        <p:txBody>
          <a:bodyPr/>
          <a:lstStyle/>
          <a:p>
            <a:endParaRPr lang="en-US"/>
          </a:p>
        </p:txBody>
      </p:sp>
      <p:sp>
        <p:nvSpPr>
          <p:cNvPr id="8" name="Text 6"/>
          <p:cNvSpPr/>
          <p:nvPr/>
        </p:nvSpPr>
        <p:spPr>
          <a:xfrm>
            <a:off x="219456" y="868680"/>
            <a:ext cx="21031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SEED PAPER</a:t>
            </a:r>
            <a:endParaRPr lang="en-US" sz="850" dirty="0"/>
          </a:p>
        </p:txBody>
      </p:sp>
      <p:sp>
        <p:nvSpPr>
          <p:cNvPr id="9" name="Text 7"/>
          <p:cNvSpPr/>
          <p:nvPr/>
        </p:nvSpPr>
        <p:spPr>
          <a:xfrm>
            <a:off x="237744" y="1179576"/>
            <a:ext cx="4069080" cy="292608"/>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Seed Paper</a:t>
            </a:r>
            <a:endParaRPr lang="en-US" sz="1350" dirty="0"/>
          </a:p>
        </p:txBody>
      </p:sp>
      <p:sp>
        <p:nvSpPr>
          <p:cNvPr id="10" name="Text 8"/>
          <p:cNvSpPr/>
          <p:nvPr/>
        </p:nvSpPr>
        <p:spPr>
          <a:xfrm>
            <a:off x="237744" y="1508760"/>
            <a:ext cx="4069080" cy="107899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One of 30 real arXiv papers on knowledge distillation / model compression that seed the experiment. Each is assigned a randomized author surname and publish year (2017–2022) before entering the pool, preventing the LLM from recognizing it by name or author identity.</a:t>
            </a:r>
            <a:endParaRPr lang="en-US" sz="1150" dirty="0"/>
          </a:p>
        </p:txBody>
      </p:sp>
      <p:sp>
        <p:nvSpPr>
          <p:cNvPr id="11" name="Shape 9"/>
          <p:cNvSpPr/>
          <p:nvPr/>
        </p:nvSpPr>
        <p:spPr>
          <a:xfrm>
            <a:off x="4663440" y="777240"/>
            <a:ext cx="4297680" cy="192024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2" name="Shape 10"/>
          <p:cNvSpPr/>
          <p:nvPr/>
        </p:nvSpPr>
        <p:spPr>
          <a:xfrm>
            <a:off x="4663440" y="777240"/>
            <a:ext cx="54864" cy="1920240"/>
          </a:xfrm>
          <a:prstGeom prst="rect">
            <a:avLst/>
          </a:prstGeom>
          <a:solidFill>
            <a:srgbClr val="0891B2"/>
          </a:solidFill>
          <a:ln w="12700">
            <a:solidFill>
              <a:srgbClr val="0891B2"/>
            </a:solidFill>
            <a:prstDash val="solid"/>
          </a:ln>
        </p:spPr>
        <p:txBody>
          <a:bodyPr/>
          <a:lstStyle/>
          <a:p>
            <a:endParaRPr lang="en-US"/>
          </a:p>
        </p:txBody>
      </p:sp>
      <p:sp>
        <p:nvSpPr>
          <p:cNvPr id="13" name="Shape 11"/>
          <p:cNvSpPr/>
          <p:nvPr/>
        </p:nvSpPr>
        <p:spPr>
          <a:xfrm>
            <a:off x="4791456" y="868680"/>
            <a:ext cx="2103120" cy="24688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4791456" y="868680"/>
            <a:ext cx="21031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NODE / GENERATION</a:t>
            </a:r>
            <a:endParaRPr lang="en-US" sz="850" dirty="0"/>
          </a:p>
        </p:txBody>
      </p:sp>
      <p:sp>
        <p:nvSpPr>
          <p:cNvPr id="15" name="Text 13"/>
          <p:cNvSpPr/>
          <p:nvPr/>
        </p:nvSpPr>
        <p:spPr>
          <a:xfrm>
            <a:off x="4809744" y="1179576"/>
            <a:ext cx="4069080" cy="292608"/>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Node (Generation)</a:t>
            </a:r>
            <a:endParaRPr lang="en-US" sz="1350" dirty="0"/>
          </a:p>
        </p:txBody>
      </p:sp>
      <p:sp>
        <p:nvSpPr>
          <p:cNvPr id="16" name="Text 14"/>
          <p:cNvSpPr/>
          <p:nvPr/>
        </p:nvSpPr>
        <p:spPr>
          <a:xfrm>
            <a:off x="4809744" y="1508760"/>
            <a:ext cx="4069080" cy="107899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 batch of 30 AI-generated papers produced by GPT-4.5-mini. There are 6 generations (Node 0–5). Each generated paper is shown a random sample of 30 papers from the current pool and asked to cite 5–10 of them. Generated papers receive random author names and years (2017–2025).</a:t>
            </a:r>
            <a:endParaRPr lang="en-US" sz="1150" dirty="0"/>
          </a:p>
        </p:txBody>
      </p:sp>
      <p:sp>
        <p:nvSpPr>
          <p:cNvPr id="17" name="Shape 15"/>
          <p:cNvSpPr/>
          <p:nvPr/>
        </p:nvSpPr>
        <p:spPr>
          <a:xfrm>
            <a:off x="91440" y="2788920"/>
            <a:ext cx="4297680" cy="201168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8" name="Shape 16"/>
          <p:cNvSpPr/>
          <p:nvPr/>
        </p:nvSpPr>
        <p:spPr>
          <a:xfrm>
            <a:off x="91440" y="2788920"/>
            <a:ext cx="54864" cy="2011680"/>
          </a:xfrm>
          <a:prstGeom prst="rect">
            <a:avLst/>
          </a:prstGeom>
          <a:solidFill>
            <a:srgbClr val="4F46E5"/>
          </a:solidFill>
          <a:ln w="12700">
            <a:solidFill>
              <a:srgbClr val="4F46E5"/>
            </a:solidFill>
            <a:prstDash val="solid"/>
          </a:ln>
        </p:spPr>
        <p:txBody>
          <a:bodyPr/>
          <a:lstStyle/>
          <a:p>
            <a:endParaRPr lang="en-US"/>
          </a:p>
        </p:txBody>
      </p:sp>
      <p:sp>
        <p:nvSpPr>
          <p:cNvPr id="19" name="Shape 17"/>
          <p:cNvSpPr/>
          <p:nvPr/>
        </p:nvSpPr>
        <p:spPr>
          <a:xfrm>
            <a:off x="219456" y="2880360"/>
            <a:ext cx="2103120" cy="24688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219456" y="2880360"/>
            <a:ext cx="21031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CITATION / EXPOSURE RATE</a:t>
            </a:r>
            <a:endParaRPr lang="en-US" sz="850" dirty="0"/>
          </a:p>
        </p:txBody>
      </p:sp>
      <p:sp>
        <p:nvSpPr>
          <p:cNvPr id="21" name="Text 19"/>
          <p:cNvSpPr/>
          <p:nvPr/>
        </p:nvSpPr>
        <p:spPr>
          <a:xfrm>
            <a:off x="237744" y="3191256"/>
            <a:ext cx="4069080" cy="292608"/>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Citation / Exposure Rate</a:t>
            </a:r>
            <a:endParaRPr lang="en-US" sz="1350" dirty="0"/>
          </a:p>
        </p:txBody>
      </p:sp>
      <p:sp>
        <p:nvSpPr>
          <p:cNvPr id="22" name="Text 20"/>
          <p:cNvSpPr/>
          <p:nvPr/>
        </p:nvSpPr>
        <p:spPr>
          <a:xfrm>
            <a:off x="237744" y="3520440"/>
            <a:ext cx="4069080" cy="117043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For a given paper, the fraction of times it is cited when it appears in the model's context window. Rate = 1.0 means cited every single time it is shown. Rate = 0.0 means never cited despite being in context. This is the key per-paper signal for detecting LLM preference.</a:t>
            </a:r>
            <a:endParaRPr lang="en-US" sz="1150" dirty="0"/>
          </a:p>
        </p:txBody>
      </p:sp>
      <p:sp>
        <p:nvSpPr>
          <p:cNvPr id="23" name="Shape 21"/>
          <p:cNvSpPr/>
          <p:nvPr/>
        </p:nvSpPr>
        <p:spPr>
          <a:xfrm>
            <a:off x="4663440" y="2788920"/>
            <a:ext cx="4297680" cy="201168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24" name="Shape 22"/>
          <p:cNvSpPr/>
          <p:nvPr/>
        </p:nvSpPr>
        <p:spPr>
          <a:xfrm>
            <a:off x="4663440" y="2788920"/>
            <a:ext cx="54864" cy="2011680"/>
          </a:xfrm>
          <a:prstGeom prst="rect">
            <a:avLst/>
          </a:prstGeom>
          <a:solidFill>
            <a:srgbClr val="16A34A"/>
          </a:solidFill>
          <a:ln w="12700">
            <a:solidFill>
              <a:srgbClr val="16A34A"/>
            </a:solidFill>
            <a:prstDash val="solid"/>
          </a:ln>
        </p:spPr>
        <p:txBody>
          <a:bodyPr/>
          <a:lstStyle/>
          <a:p>
            <a:endParaRPr lang="en-US"/>
          </a:p>
        </p:txBody>
      </p:sp>
      <p:sp>
        <p:nvSpPr>
          <p:cNvPr id="25" name="Shape 23"/>
          <p:cNvSpPr/>
          <p:nvPr/>
        </p:nvSpPr>
        <p:spPr>
          <a:xfrm>
            <a:off x="4791456" y="2880360"/>
            <a:ext cx="2103120" cy="246888"/>
          </a:xfrm>
          <a:prstGeom prst="rect">
            <a:avLst/>
          </a:prstGeom>
          <a:solidFill>
            <a:srgbClr val="16A34A"/>
          </a:solidFill>
          <a:ln w="12700">
            <a:solidFill>
              <a:srgbClr val="16A34A"/>
            </a:solidFill>
            <a:prstDash val="solid"/>
          </a:ln>
        </p:spPr>
        <p:txBody>
          <a:bodyPr/>
          <a:lstStyle/>
          <a:p>
            <a:endParaRPr lang="en-US"/>
          </a:p>
        </p:txBody>
      </p:sp>
      <p:sp>
        <p:nvSpPr>
          <p:cNvPr id="26" name="Text 24"/>
          <p:cNvSpPr/>
          <p:nvPr/>
        </p:nvSpPr>
        <p:spPr>
          <a:xfrm>
            <a:off x="4791456" y="2880360"/>
            <a:ext cx="21031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GINI COEFFICIENT</a:t>
            </a:r>
            <a:endParaRPr lang="en-US" sz="850" dirty="0"/>
          </a:p>
        </p:txBody>
      </p:sp>
      <p:sp>
        <p:nvSpPr>
          <p:cNvPr id="27" name="Text 25"/>
          <p:cNvSpPr/>
          <p:nvPr/>
        </p:nvSpPr>
        <p:spPr>
          <a:xfrm>
            <a:off x="4809744" y="3191256"/>
            <a:ext cx="4069080" cy="292608"/>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Gini Coefficient</a:t>
            </a:r>
            <a:endParaRPr lang="en-US" sz="1350" dirty="0"/>
          </a:p>
        </p:txBody>
      </p:sp>
      <p:sp>
        <p:nvSpPr>
          <p:cNvPr id="28" name="Text 26"/>
          <p:cNvSpPr/>
          <p:nvPr/>
        </p:nvSpPr>
        <p:spPr>
          <a:xfrm>
            <a:off x="4809744" y="3520440"/>
            <a:ext cx="4069080" cy="117043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 measure of inequality in the citation distribution, ranging from 0 (all papers equally cited) to 1 (one paper receives everything). Borrowed from economics (income inequality). Calculated here at each generation over cumulative citation counts across the full pool.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Gini Coefficient — Measuring Citation Inequality</a:t>
            </a:r>
            <a:endParaRPr lang="en-US" sz="2000" dirty="0"/>
          </a:p>
        </p:txBody>
      </p:sp>
      <p:pic>
        <p:nvPicPr>
          <p:cNvPr id="5" name="Image 0" descr="/sessions/eloquent-loving-dijkstra/gini_formula.png"/>
          <p:cNvPicPr>
            <a:picLocks noChangeAspect="1"/>
          </p:cNvPicPr>
          <p:nvPr/>
        </p:nvPicPr>
        <p:blipFill>
          <a:blip r:embed="rId3"/>
          <a:srcRect/>
          <a:stretch/>
        </p:blipFill>
        <p:spPr>
          <a:xfrm>
            <a:off x="137160" y="804672"/>
            <a:ext cx="8869680" cy="2724912"/>
          </a:xfrm>
          <a:prstGeom prst="rect">
            <a:avLst/>
          </a:prstGeom>
        </p:spPr>
      </p:pic>
      <p:sp>
        <p:nvSpPr>
          <p:cNvPr id="6" name="Shape 3"/>
          <p:cNvSpPr/>
          <p:nvPr/>
        </p:nvSpPr>
        <p:spPr>
          <a:xfrm>
            <a:off x="137160" y="3657600"/>
            <a:ext cx="8869680" cy="1188720"/>
          </a:xfrm>
          <a:prstGeom prst="rect">
            <a:avLst/>
          </a:prstGeom>
          <a:solidFill>
            <a:srgbClr val="1A2E4A"/>
          </a:solidFill>
          <a:ln w="12700">
            <a:solidFill>
              <a:srgbClr val="1A2E4A"/>
            </a:solidFill>
            <a:prstDash val="solid"/>
          </a:ln>
          <a:effectLst>
            <a:outerShdw blurRad="127000" dist="38100" dir="8100000" algn="bl" rotWithShape="0">
              <a:srgbClr val="000000">
                <a:alpha val="9000"/>
              </a:srgbClr>
            </a:outerShdw>
          </a:effectLst>
        </p:spPr>
        <p:txBody>
          <a:bodyPr/>
          <a:lstStyle/>
          <a:p>
            <a:endParaRPr lang="en-US"/>
          </a:p>
        </p:txBody>
      </p:sp>
      <p:sp>
        <p:nvSpPr>
          <p:cNvPr id="7" name="Shape 4"/>
          <p:cNvSpPr/>
          <p:nvPr/>
        </p:nvSpPr>
        <p:spPr>
          <a:xfrm>
            <a:off x="137160" y="3657600"/>
            <a:ext cx="54864" cy="1188720"/>
          </a:xfrm>
          <a:prstGeom prst="rect">
            <a:avLst/>
          </a:prstGeom>
          <a:solidFill>
            <a:srgbClr val="0891B2"/>
          </a:solidFill>
          <a:ln w="12700">
            <a:solidFill>
              <a:srgbClr val="0891B2"/>
            </a:solidFill>
            <a:prstDash val="solid"/>
          </a:ln>
        </p:spPr>
        <p:txBody>
          <a:bodyPr/>
          <a:lstStyle/>
          <a:p>
            <a:endParaRPr lang="en-US"/>
          </a:p>
        </p:txBody>
      </p:sp>
      <p:sp>
        <p:nvSpPr>
          <p:cNvPr id="8" name="Text 5"/>
          <p:cNvSpPr/>
          <p:nvPr/>
        </p:nvSpPr>
        <p:spPr>
          <a:xfrm>
            <a:off x="274320" y="3721608"/>
            <a:ext cx="85953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Real-world reference points:</a:t>
            </a:r>
            <a:endParaRPr lang="en-US" sz="1200" dirty="0"/>
          </a:p>
        </p:txBody>
      </p:sp>
      <p:sp>
        <p:nvSpPr>
          <p:cNvPr id="9" name="Text 6"/>
          <p:cNvSpPr/>
          <p:nvPr/>
        </p:nvSpPr>
        <p:spPr>
          <a:xfrm>
            <a:off x="274320" y="4023360"/>
            <a:ext cx="8595360" cy="74980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 xml:space="preserve">Scandinavia (income): G ≈ 0.27  ·  USA (income): G ≈ 0.40  ·  </a:t>
            </a:r>
            <a:r>
              <a:rPr lang="en-US" sz="1200" b="1" dirty="0">
                <a:solidFill>
                  <a:srgbClr val="BAE6FD"/>
                </a:solidFill>
                <a:latin typeface="Calibri" pitchFamily="34" charset="0"/>
                <a:ea typeface="Calibri" pitchFamily="34" charset="-122"/>
                <a:cs typeface="Calibri" pitchFamily="34" charset="-120"/>
              </a:rPr>
              <a:t>This experiment: G starts at 0.106 and reaches 0.321</a:t>
            </a:r>
            <a:r>
              <a:rPr lang="en-US" sz="1200" dirty="0">
                <a:solidFill>
                  <a:srgbClr val="94A3B8"/>
                </a:solidFill>
                <a:latin typeface="Calibri" pitchFamily="34" charset="0"/>
                <a:ea typeface="Calibri" pitchFamily="34" charset="-122"/>
                <a:cs typeface="Calibri" pitchFamily="34" charset="-120"/>
              </a:rPr>
              <a:t xml:space="preserve">  ·  Random citation baseline starts at G ≈ 0.049, confirming the LLM introduces additional concentration beyond what structure alone would produce.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Experiment Progression: How the Design Evolved Across Three Versions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3026316292"/>
              </p:ext>
            </p:extLst>
          </p:nvPr>
        </p:nvGraphicFramePr>
        <p:xfrm>
          <a:off x="91440" y="804672"/>
          <a:ext cx="8915400" cy="3803904"/>
        </p:xfrm>
        <a:graphic>
          <a:graphicData uri="http://schemas.openxmlformats.org/drawingml/2006/table">
            <a:tbl>
              <a:tblPr/>
              <a:tblGrid>
                <a:gridCol w="2331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75488">
                <a:tc>
                  <a:txBody>
                    <a:bodyPr/>
                    <a:lstStyle/>
                    <a:p>
                      <a:pPr marL="0" indent="0" algn="ctr">
                        <a:buNone/>
                      </a:pPr>
                      <a:r>
                        <a:rPr lang="en-US" sz="1150" b="1" dirty="0">
                          <a:solidFill>
                            <a:srgbClr val="FFFFFF"/>
                          </a:solidFill>
                        </a:rPr>
                        <a:t>Feature</a:t>
                      </a:r>
                      <a:endParaRPr lang="en-US" sz="11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E33"/>
                    </a:solidFill>
                  </a:tcPr>
                </a:tc>
                <a:tc>
                  <a:txBody>
                    <a:bodyPr/>
                    <a:lstStyle/>
                    <a:p>
                      <a:pPr marL="0" indent="0" algn="ctr">
                        <a:buNone/>
                      </a:pPr>
                      <a:r>
                        <a:rPr lang="en-US" sz="1100" b="1" dirty="0">
                          <a:solidFill>
                            <a:srgbClr val="FFFFFF"/>
                          </a:solidFill>
                        </a:rPr>
                        <a:t>v1  (Feb 2, 2026)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7B1D20"/>
                    </a:solidFill>
                  </a:tcPr>
                </a:tc>
                <a:tc>
                  <a:txBody>
                    <a:bodyPr/>
                    <a:lstStyle/>
                    <a:p>
                      <a:pPr marL="0" indent="0" algn="ctr">
                        <a:buNone/>
                      </a:pPr>
                      <a:r>
                        <a:rPr lang="en-US" sz="1100" b="1" dirty="0">
                          <a:solidFill>
                            <a:srgbClr val="FFFFFF"/>
                          </a:solidFill>
                        </a:rPr>
                        <a:t>v2  (Feb 22, 2026)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D3467"/>
                    </a:solidFill>
                  </a:tcPr>
                </a:tc>
                <a:tc>
                  <a:txBody>
                    <a:bodyPr/>
                    <a:lstStyle/>
                    <a:p>
                      <a:pPr marL="0" indent="0" algn="ctr">
                        <a:buNone/>
                      </a:pPr>
                      <a:r>
                        <a:rPr lang="en-US" sz="1100" b="1" dirty="0">
                          <a:solidFill>
                            <a:srgbClr val="FFFFFF"/>
                          </a:solidFill>
                        </a:rPr>
                        <a:t>alpha_0.2.0  (Mar 1, 2026)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1E293B"/>
                          </a:solidFill>
                        </a:rPr>
                        <a:t>Topic</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rPr>
                        <a:t>Attention mechanisms in NLP</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Attention mechanisms in NLP</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b="1" dirty="0">
                          <a:solidFill>
                            <a:srgbClr val="1E293B"/>
                          </a:solidFill>
                        </a:rPr>
                        <a:t>Knowledge distillation / model compression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1E293B"/>
                          </a:solidFill>
                        </a:rPr>
                        <a:t>Seed papers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rPr>
                        <a:t>50  (20–100 citation bucket)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30  (100–249 citation bucket)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1E293B"/>
                          </a:solidFill>
                        </a:rPr>
                        <a:t>30  (100–249 citation bucket)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2"/>
                  </a:ext>
                </a:extLst>
              </a:tr>
              <a:tr h="475488">
                <a:tc>
                  <a:txBody>
                    <a:bodyPr/>
                    <a:lstStyle/>
                    <a:p>
                      <a:pPr marL="0" indent="0">
                        <a:buNone/>
                      </a:pPr>
                      <a:r>
                        <a:rPr lang="en-US" sz="1100" b="1" dirty="0">
                          <a:solidFill>
                            <a:srgbClr val="1E293B"/>
                          </a:solidFill>
                        </a:rPr>
                        <a:t>Generations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rPr>
                        <a:t>5  (stopped — token cost)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1E293B"/>
                          </a:solidFill>
                        </a:rPr>
                        <a:t>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1E293B"/>
                          </a:solidFill>
                        </a:rPr>
                        <a:t>Author anonymization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rPr>
                        <a:t>None — real names/years used</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None</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b="1" dirty="0">
                          <a:solidFill>
                            <a:srgbClr val="1E293B"/>
                          </a:solidFill>
                        </a:rPr>
                        <a:t>Fake names + years  (seeds: 2017–2022, generated: 2017–2025)</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4"/>
                  </a:ext>
                </a:extLst>
              </a:tr>
              <a:tr h="475488">
                <a:tc>
                  <a:txBody>
                    <a:bodyPr/>
                    <a:lstStyle/>
                    <a:p>
                      <a:pPr marL="0" indent="0">
                        <a:buNone/>
                      </a:pPr>
                      <a:r>
                        <a:rPr lang="en-US" sz="1100" b="1" dirty="0">
                          <a:solidFill>
                            <a:srgbClr val="1E293B"/>
                          </a:solidFill>
                        </a:rPr>
                        <a:t>Paper types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rPr>
                        <a:t>Literature reviews only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Literature reviews only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b="1" dirty="0">
                          <a:solidFill>
                            <a:srgbClr val="1E293B"/>
                          </a:solidFill>
                        </a:rPr>
                        <a:t>Literature reviews + position papers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5"/>
                  </a:ext>
                </a:extLst>
              </a:tr>
              <a:tr h="475488">
                <a:tc>
                  <a:txBody>
                    <a:bodyPr/>
                    <a:lstStyle/>
                    <a:p>
                      <a:pPr marL="0" indent="0">
                        <a:buNone/>
                      </a:pPr>
                      <a:r>
                        <a:rPr lang="en-US" sz="1100" b="1" dirty="0">
                          <a:solidFill>
                            <a:srgbClr val="1E293B"/>
                          </a:solidFill>
                        </a:rPr>
                        <a:t>Generated papers cited</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b="1" dirty="0">
                          <a:solidFill>
                            <a:srgbClr val="DC2626"/>
                          </a:solidFill>
                        </a:rPr>
                        <a:t>Never (~0 citations)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Rarely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b="1" dirty="0">
                          <a:solidFill>
                            <a:srgbClr val="16A34A"/>
                          </a:solidFill>
                        </a:rPr>
                        <a:t>Yes — avg. rate ~0.72</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6"/>
                  </a:ext>
                </a:extLst>
              </a:tr>
              <a:tr h="475488">
                <a:tc>
                  <a:txBody>
                    <a:bodyPr/>
                    <a:lstStyle/>
                    <a:p>
                      <a:pPr marL="0" indent="0">
                        <a:buNone/>
                      </a:pPr>
                      <a:r>
                        <a:rPr lang="en-US" sz="1100" b="1" dirty="0">
                          <a:solidFill>
                            <a:srgbClr val="1E293B"/>
                          </a:solidFill>
                        </a:rPr>
                        <a:t>Starting Gini (Node 0)</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b="1" dirty="0">
                          <a:solidFill>
                            <a:srgbClr val="DC2626"/>
                          </a:solidFill>
                        </a:rPr>
                        <a:t>0.79  (extreme)</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100" dirty="0">
                          <a:solidFill>
                            <a:srgbClr val="1E293B"/>
                          </a:solidFill>
                        </a:rPr>
                        <a:t>Lower (not tracked)</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b="1" dirty="0">
                          <a:solidFill>
                            <a:srgbClr val="16A34A"/>
                          </a:solidFill>
                        </a:rPr>
                        <a:t>0.106</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0F1E33"/>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228600" y="164592"/>
            <a:ext cx="8686800" cy="475488"/>
          </a:xfrm>
          <a:prstGeom prst="rect">
            <a:avLst/>
          </a:prstGeom>
          <a:noFill/>
          <a:ln/>
        </p:spPr>
        <p:txBody>
          <a:bodyPr wrap="square" lIns="0" tIns="0" rIns="0" bIns="0" rtlCol="0" anchor="ctr"/>
          <a:lstStyle/>
          <a:p>
            <a:pPr marL="0" indent="0">
              <a:buNone/>
            </a:pPr>
            <a:r>
              <a:rPr lang="en-US" sz="1300" b="1" kern="0" spc="300" dirty="0">
                <a:solidFill>
                  <a:srgbClr val="BAE6FD"/>
                </a:solidFill>
                <a:latin typeface="Calibri" pitchFamily="34" charset="0"/>
                <a:ea typeface="Calibri" pitchFamily="34" charset="-122"/>
                <a:cs typeface="Calibri" pitchFamily="34" charset="-120"/>
              </a:rPr>
              <a:t>Central Claim</a:t>
            </a:r>
            <a:endParaRPr lang="en-US" sz="1300" dirty="0"/>
          </a:p>
        </p:txBody>
      </p:sp>
      <p:sp>
        <p:nvSpPr>
          <p:cNvPr id="4" name="Shape 2"/>
          <p:cNvSpPr/>
          <p:nvPr/>
        </p:nvSpPr>
        <p:spPr>
          <a:xfrm>
            <a:off x="228600" y="685800"/>
            <a:ext cx="8686800" cy="0"/>
          </a:xfrm>
          <a:prstGeom prst="line">
            <a:avLst/>
          </a:prstGeom>
          <a:noFill/>
          <a:ln w="19050">
            <a:solidFill>
              <a:srgbClr val="0891B2"/>
            </a:solidFill>
            <a:prstDash val="solid"/>
          </a:ln>
        </p:spPr>
        <p:txBody>
          <a:bodyPr/>
          <a:lstStyle/>
          <a:p>
            <a:endParaRPr lang="en-US"/>
          </a:p>
        </p:txBody>
      </p:sp>
      <p:sp>
        <p:nvSpPr>
          <p:cNvPr id="5" name="Text 3"/>
          <p:cNvSpPr/>
          <p:nvPr/>
        </p:nvSpPr>
        <p:spPr>
          <a:xfrm>
            <a:off x="228600" y="804672"/>
            <a:ext cx="873252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When LLMs generate academic papers that cite prior work — and those generated papers are fed back as references for future generations — citation inequality compounds steadily. The driver is not topical relevance but a persistent LLM preference for human-written papers.</a:t>
            </a:r>
            <a:endParaRPr lang="en-US" sz="1700" dirty="0"/>
          </a:p>
        </p:txBody>
      </p:sp>
      <p:sp>
        <p:nvSpPr>
          <p:cNvPr id="6" name="Shape 4"/>
          <p:cNvSpPr/>
          <p:nvPr/>
        </p:nvSpPr>
        <p:spPr>
          <a:xfrm>
            <a:off x="228600" y="2121408"/>
            <a:ext cx="54864" cy="822960"/>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320040" y="2121408"/>
            <a:ext cx="8613648" cy="822960"/>
          </a:xfrm>
          <a:prstGeom prst="rect">
            <a:avLst/>
          </a:prstGeom>
          <a:solidFill>
            <a:srgbClr val="1A2E4A"/>
          </a:solidFill>
          <a:ln w="12700">
            <a:solidFill>
              <a:srgbClr val="1A2E4A"/>
            </a:solidFill>
            <a:prstDash val="solid"/>
          </a:ln>
        </p:spPr>
        <p:txBody>
          <a:bodyPr/>
          <a:lstStyle/>
          <a:p>
            <a:endParaRPr lang="en-US"/>
          </a:p>
        </p:txBody>
      </p:sp>
      <p:sp>
        <p:nvSpPr>
          <p:cNvPr id="8" name="Text 6"/>
          <p:cNvSpPr/>
          <p:nvPr/>
        </p:nvSpPr>
        <p:spPr>
          <a:xfrm>
            <a:off x="438912" y="2194560"/>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Inequality compounds 3× across 6 generations (Gini: 0.106 → 0.321), exceeding random and semantic-relevance baselines at every step.</a:t>
            </a:r>
            <a:endParaRPr lang="en-US" sz="1250" dirty="0"/>
          </a:p>
        </p:txBody>
      </p:sp>
      <p:sp>
        <p:nvSpPr>
          <p:cNvPr id="9" name="Shape 7"/>
          <p:cNvSpPr/>
          <p:nvPr/>
        </p:nvSpPr>
        <p:spPr>
          <a:xfrm>
            <a:off x="228600" y="3072384"/>
            <a:ext cx="54864" cy="822960"/>
          </a:xfrm>
          <a:prstGeom prst="rect">
            <a:avLst/>
          </a:prstGeom>
          <a:solidFill>
            <a:srgbClr val="EA580C"/>
          </a:solidFill>
          <a:ln w="12700">
            <a:solidFill>
              <a:srgbClr val="EA580C"/>
            </a:solidFill>
            <a:prstDash val="solid"/>
          </a:ln>
        </p:spPr>
        <p:txBody>
          <a:bodyPr/>
          <a:lstStyle/>
          <a:p>
            <a:endParaRPr lang="en-US"/>
          </a:p>
        </p:txBody>
      </p:sp>
      <p:sp>
        <p:nvSpPr>
          <p:cNvPr id="10" name="Shape 8"/>
          <p:cNvSpPr/>
          <p:nvPr/>
        </p:nvSpPr>
        <p:spPr>
          <a:xfrm>
            <a:off x="320040" y="3072384"/>
            <a:ext cx="8613648" cy="822960"/>
          </a:xfrm>
          <a:prstGeom prst="rect">
            <a:avLst/>
          </a:prstGeom>
          <a:solidFill>
            <a:srgbClr val="1A2E4A"/>
          </a:solidFill>
          <a:ln w="12700">
            <a:solidFill>
              <a:srgbClr val="1A2E4A"/>
            </a:solidFill>
            <a:prstDash val="solid"/>
          </a:ln>
        </p:spPr>
        <p:txBody>
          <a:bodyPr/>
          <a:lstStyle/>
          <a:p>
            <a:endParaRPr lang="en-US"/>
          </a:p>
        </p:txBody>
      </p:sp>
      <p:sp>
        <p:nvSpPr>
          <p:cNvPr id="11" name="Text 9"/>
          <p:cNvSpPr/>
          <p:nvPr/>
        </p:nvSpPr>
        <p:spPr>
          <a:xfrm>
            <a:off x="438912" y="3145536"/>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Seed papers (human-written) are cited at 85–93% rates; AI-generated papers decline toward 0. The gap is not explained by topic relevance — it correlates inversely (r = −0.693).</a:t>
            </a:r>
            <a:endParaRPr lang="en-US" sz="1250" dirty="0"/>
          </a:p>
        </p:txBody>
      </p:sp>
      <p:sp>
        <p:nvSpPr>
          <p:cNvPr id="12" name="Shape 10"/>
          <p:cNvSpPr/>
          <p:nvPr/>
        </p:nvSpPr>
        <p:spPr>
          <a:xfrm>
            <a:off x="228600" y="4023360"/>
            <a:ext cx="54864" cy="822960"/>
          </a:xfrm>
          <a:prstGeom prst="rect">
            <a:avLst/>
          </a:prstGeom>
          <a:solidFill>
            <a:srgbClr val="4F46E5"/>
          </a:solidFill>
          <a:ln w="12700">
            <a:solidFill>
              <a:srgbClr val="4F46E5"/>
            </a:solidFill>
            <a:prstDash val="solid"/>
          </a:ln>
        </p:spPr>
        <p:txBody>
          <a:bodyPr/>
          <a:lstStyle/>
          <a:p>
            <a:endParaRPr lang="en-US"/>
          </a:p>
        </p:txBody>
      </p:sp>
      <p:sp>
        <p:nvSpPr>
          <p:cNvPr id="13" name="Shape 11"/>
          <p:cNvSpPr/>
          <p:nvPr/>
        </p:nvSpPr>
        <p:spPr>
          <a:xfrm>
            <a:off x="320040" y="4023360"/>
            <a:ext cx="8613648" cy="822960"/>
          </a:xfrm>
          <a:prstGeom prst="rect">
            <a:avLst/>
          </a:prstGeom>
          <a:solidFill>
            <a:srgbClr val="1A2E4A"/>
          </a:solidFill>
          <a:ln w="12700">
            <a:solidFill>
              <a:srgbClr val="1A2E4A"/>
            </a:solidFill>
            <a:prstDash val="solid"/>
          </a:ln>
        </p:spPr>
        <p:txBody>
          <a:bodyPr/>
          <a:lstStyle/>
          <a:p>
            <a:endParaRPr lang="en-US"/>
          </a:p>
        </p:txBody>
      </p:sp>
      <p:sp>
        <p:nvSpPr>
          <p:cNvPr id="14" name="Text 12"/>
          <p:cNvSpPr/>
          <p:nvPr/>
        </p:nvSpPr>
        <p:spPr>
          <a:xfrm>
            <a:off x="438912" y="4096512"/>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If LLMs assist literature review at scale, they risk amplifying existing citation concentration via machine preference, creating a new Matthew Effect in science.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Experiment Design — alpha_0.2.0</a:t>
            </a:r>
            <a:endParaRPr lang="en-US" sz="2000" dirty="0"/>
          </a:p>
        </p:txBody>
      </p:sp>
      <p:sp>
        <p:nvSpPr>
          <p:cNvPr id="5" name="Shape 3"/>
          <p:cNvSpPr/>
          <p:nvPr/>
        </p:nvSpPr>
        <p:spPr>
          <a:xfrm>
            <a:off x="137160" y="749808"/>
            <a:ext cx="3977640" cy="123444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137160" y="749808"/>
            <a:ext cx="54864" cy="1234440"/>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274320" y="841248"/>
            <a:ext cx="914400" cy="256032"/>
          </a:xfrm>
          <a:prstGeom prst="rect">
            <a:avLst/>
          </a:prstGeom>
          <a:solidFill>
            <a:srgbClr val="0891B2"/>
          </a:solidFill>
          <a:ln w="12700">
            <a:solidFill>
              <a:srgbClr val="0891B2"/>
            </a:solidFill>
            <a:prstDash val="solid"/>
          </a:ln>
        </p:spPr>
        <p:txBody>
          <a:bodyPr/>
          <a:lstStyle/>
          <a:p>
            <a:endParaRPr lang="en-US"/>
          </a:p>
        </p:txBody>
      </p:sp>
      <p:sp>
        <p:nvSpPr>
          <p:cNvPr id="8" name="Text 6"/>
          <p:cNvSpPr/>
          <p:nvPr/>
        </p:nvSpPr>
        <p:spPr>
          <a:xfrm>
            <a:off x="274320" y="841248"/>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SETUP</a:t>
            </a:r>
            <a:endParaRPr lang="en-US" sz="900" dirty="0"/>
          </a:p>
        </p:txBody>
      </p:sp>
      <p:sp>
        <p:nvSpPr>
          <p:cNvPr id="9" name="Text 7"/>
          <p:cNvSpPr/>
          <p:nvPr/>
        </p:nvSpPr>
        <p:spPr>
          <a:xfrm>
            <a:off x="274320" y="1152144"/>
            <a:ext cx="3749040" cy="7315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30 real arXiv papers</a:t>
            </a:r>
            <a:r>
              <a:rPr lang="en-US" sz="1200" dirty="0">
                <a:solidFill>
                  <a:srgbClr val="1E293B"/>
                </a:solidFill>
                <a:latin typeface="Calibri" pitchFamily="34" charset="0"/>
                <a:ea typeface="Calibri" pitchFamily="34" charset="-122"/>
                <a:cs typeface="Calibri" pitchFamily="34" charset="-120"/>
              </a:rPr>
              <a:t xml:space="preserve"> on knowledge distillation / model compression. Each is anonymized with a random author surname and publish year (2017–2022) before entering the pool.</a:t>
            </a:r>
            <a:endParaRPr lang="en-US" sz="1200" dirty="0"/>
          </a:p>
        </p:txBody>
      </p:sp>
      <p:sp>
        <p:nvSpPr>
          <p:cNvPr id="10" name="Shape 8"/>
          <p:cNvSpPr/>
          <p:nvPr/>
        </p:nvSpPr>
        <p:spPr>
          <a:xfrm>
            <a:off x="137160" y="2075688"/>
            <a:ext cx="3977640" cy="141732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1" name="Shape 9"/>
          <p:cNvSpPr/>
          <p:nvPr/>
        </p:nvSpPr>
        <p:spPr>
          <a:xfrm>
            <a:off x="137160" y="2075688"/>
            <a:ext cx="54864" cy="1417320"/>
          </a:xfrm>
          <a:prstGeom prst="rect">
            <a:avLst/>
          </a:prstGeom>
          <a:solidFill>
            <a:srgbClr val="EA580C"/>
          </a:solidFill>
          <a:ln w="12700">
            <a:solidFill>
              <a:srgbClr val="EA580C"/>
            </a:solidFill>
            <a:prstDash val="solid"/>
          </a:ln>
        </p:spPr>
        <p:txBody>
          <a:bodyPr/>
          <a:lstStyle/>
          <a:p>
            <a:endParaRPr lang="en-US"/>
          </a:p>
        </p:txBody>
      </p:sp>
      <p:sp>
        <p:nvSpPr>
          <p:cNvPr id="12" name="Shape 10"/>
          <p:cNvSpPr/>
          <p:nvPr/>
        </p:nvSpPr>
        <p:spPr>
          <a:xfrm>
            <a:off x="274320" y="2167128"/>
            <a:ext cx="914400" cy="256032"/>
          </a:xfrm>
          <a:prstGeom prst="rect">
            <a:avLst/>
          </a:prstGeom>
          <a:solidFill>
            <a:srgbClr val="EA580C"/>
          </a:solidFill>
          <a:ln w="12700">
            <a:solidFill>
              <a:srgbClr val="EA580C"/>
            </a:solidFill>
            <a:prstDash val="solid"/>
          </a:ln>
        </p:spPr>
        <p:txBody>
          <a:bodyPr/>
          <a:lstStyle/>
          <a:p>
            <a:endParaRPr lang="en-US"/>
          </a:p>
        </p:txBody>
      </p:sp>
      <p:sp>
        <p:nvSpPr>
          <p:cNvPr id="13" name="Text 11"/>
          <p:cNvSpPr/>
          <p:nvPr/>
        </p:nvSpPr>
        <p:spPr>
          <a:xfrm>
            <a:off x="274320" y="2167128"/>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PROCESS</a:t>
            </a:r>
            <a:endParaRPr lang="en-US" sz="900" dirty="0"/>
          </a:p>
        </p:txBody>
      </p:sp>
      <p:sp>
        <p:nvSpPr>
          <p:cNvPr id="14" name="Text 12"/>
          <p:cNvSpPr/>
          <p:nvPr/>
        </p:nvSpPr>
        <p:spPr>
          <a:xfrm>
            <a:off x="274320" y="2478024"/>
            <a:ext cx="3749040" cy="9144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GPT-5-mini</a:t>
            </a:r>
            <a:r>
              <a:rPr lang="en-US" sz="1200" dirty="0">
                <a:solidFill>
                  <a:srgbClr val="1E293B"/>
                </a:solidFill>
                <a:latin typeface="Calibri" pitchFamily="34" charset="0"/>
                <a:ea typeface="Calibri" pitchFamily="34" charset="-122"/>
                <a:cs typeface="Calibri" pitchFamily="34" charset="-120"/>
              </a:rPr>
              <a:t xml:space="preserve"> generates 30 papers per generation (6 total). Each paper is shown 30 randomly sampled papers from the current pool and must cite 5–10 inline. Generated papers receive random author names + years 2017–2025.</a:t>
            </a:r>
            <a:endParaRPr lang="en-US" sz="1200" dirty="0"/>
          </a:p>
        </p:txBody>
      </p:sp>
      <p:sp>
        <p:nvSpPr>
          <p:cNvPr id="15" name="Shape 13"/>
          <p:cNvSpPr/>
          <p:nvPr/>
        </p:nvSpPr>
        <p:spPr>
          <a:xfrm>
            <a:off x="137160" y="3584448"/>
            <a:ext cx="3977640" cy="132588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6" name="Shape 14"/>
          <p:cNvSpPr/>
          <p:nvPr/>
        </p:nvSpPr>
        <p:spPr>
          <a:xfrm>
            <a:off x="137160" y="3584448"/>
            <a:ext cx="54864" cy="1325880"/>
          </a:xfrm>
          <a:prstGeom prst="rect">
            <a:avLst/>
          </a:prstGeom>
          <a:solidFill>
            <a:srgbClr val="0F1E33"/>
          </a:solidFill>
          <a:ln w="12700">
            <a:solidFill>
              <a:srgbClr val="0F1E33"/>
            </a:solidFill>
            <a:prstDash val="solid"/>
          </a:ln>
        </p:spPr>
        <p:txBody>
          <a:bodyPr/>
          <a:lstStyle/>
          <a:p>
            <a:endParaRPr lang="en-US"/>
          </a:p>
        </p:txBody>
      </p:sp>
      <p:sp>
        <p:nvSpPr>
          <p:cNvPr id="17" name="Shape 15"/>
          <p:cNvSpPr/>
          <p:nvPr/>
        </p:nvSpPr>
        <p:spPr>
          <a:xfrm>
            <a:off x="274320" y="3675888"/>
            <a:ext cx="914400" cy="256032"/>
          </a:xfrm>
          <a:prstGeom prst="rect">
            <a:avLst/>
          </a:prstGeom>
          <a:solidFill>
            <a:srgbClr val="0F1E33"/>
          </a:solidFill>
          <a:ln w="12700">
            <a:solidFill>
              <a:srgbClr val="0F1E33"/>
            </a:solidFill>
            <a:prstDash val="solid"/>
          </a:ln>
        </p:spPr>
        <p:txBody>
          <a:bodyPr/>
          <a:lstStyle/>
          <a:p>
            <a:endParaRPr lang="en-US"/>
          </a:p>
        </p:txBody>
      </p:sp>
      <p:sp>
        <p:nvSpPr>
          <p:cNvPr id="18" name="Text 16"/>
          <p:cNvSpPr/>
          <p:nvPr/>
        </p:nvSpPr>
        <p:spPr>
          <a:xfrm>
            <a:off x="274320" y="3675888"/>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RESEARCH QUESTION</a:t>
            </a:r>
            <a:endParaRPr lang="en-US" sz="900" dirty="0"/>
          </a:p>
        </p:txBody>
      </p:sp>
      <p:sp>
        <p:nvSpPr>
          <p:cNvPr id="19" name="Text 17"/>
          <p:cNvSpPr/>
          <p:nvPr/>
        </p:nvSpPr>
        <p:spPr>
          <a:xfrm>
            <a:off x="274320" y="3986784"/>
            <a:ext cx="3749040" cy="82296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Does citation inequality grow</a:t>
            </a:r>
            <a:r>
              <a:rPr lang="en-US" sz="1200" dirty="0">
                <a:solidFill>
                  <a:srgbClr val="1E293B"/>
                </a:solidFill>
                <a:latin typeface="Calibri" pitchFamily="34" charset="0"/>
                <a:ea typeface="Calibri" pitchFamily="34" charset="-122"/>
                <a:cs typeface="Calibri" pitchFamily="34" charset="-120"/>
              </a:rPr>
              <a:t xml:space="preserve"> as AI-generated papers are fed back as references for future AI-generated papers? And what drives the inequality — topic relevance, or something else?</a:t>
            </a:r>
            <a:endParaRPr lang="en-US" sz="1200" dirty="0"/>
          </a:p>
        </p:txBody>
      </p:sp>
      <p:sp>
        <p:nvSpPr>
          <p:cNvPr id="20" name="Shape 18"/>
          <p:cNvSpPr/>
          <p:nvPr/>
        </p:nvSpPr>
        <p:spPr>
          <a:xfrm>
            <a:off x="4297680" y="804672"/>
            <a:ext cx="1005840" cy="658368"/>
          </a:xfrm>
          <a:prstGeom prst="rect">
            <a:avLst/>
          </a:prstGeom>
          <a:solidFill>
            <a:srgbClr val="EA580C"/>
          </a:solidFill>
          <a:ln w="12700">
            <a:solidFill>
              <a:srgbClr val="EA580C"/>
            </a:solidFill>
            <a:prstDash val="solid"/>
          </a:ln>
          <a:effectLst>
            <a:outerShdw blurRad="127000" dist="38100" dir="8100000" algn="bl" rotWithShape="0">
              <a:srgbClr val="000000">
                <a:alpha val="9000"/>
              </a:srgbClr>
            </a:outerShdw>
          </a:effectLst>
        </p:spPr>
        <p:txBody>
          <a:bodyPr/>
          <a:lstStyle/>
          <a:p>
            <a:endParaRPr lang="en-US"/>
          </a:p>
        </p:txBody>
      </p:sp>
      <p:sp>
        <p:nvSpPr>
          <p:cNvPr id="21" name="Text 19"/>
          <p:cNvSpPr/>
          <p:nvPr/>
        </p:nvSpPr>
        <p:spPr>
          <a:xfrm>
            <a:off x="4297680" y="850392"/>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SEED</a:t>
            </a:r>
            <a:endParaRPr lang="en-US" sz="950" dirty="0"/>
          </a:p>
        </p:txBody>
      </p:sp>
      <p:sp>
        <p:nvSpPr>
          <p:cNvPr id="22" name="Text 20"/>
          <p:cNvSpPr/>
          <p:nvPr/>
        </p:nvSpPr>
        <p:spPr>
          <a:xfrm>
            <a:off x="4297680" y="1152144"/>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23" name="Shape 21"/>
          <p:cNvSpPr/>
          <p:nvPr/>
        </p:nvSpPr>
        <p:spPr>
          <a:xfrm>
            <a:off x="5303520" y="1133856"/>
            <a:ext cx="128016" cy="0"/>
          </a:xfrm>
          <a:prstGeom prst="line">
            <a:avLst/>
          </a:prstGeom>
          <a:noFill/>
          <a:ln w="25400">
            <a:solidFill>
              <a:srgbClr val="475569"/>
            </a:solidFill>
            <a:prstDash val="solid"/>
          </a:ln>
        </p:spPr>
        <p:txBody>
          <a:bodyPr/>
          <a:lstStyle/>
          <a:p>
            <a:endParaRPr lang="en-US"/>
          </a:p>
        </p:txBody>
      </p:sp>
      <p:sp>
        <p:nvSpPr>
          <p:cNvPr id="24" name="Shape 22"/>
          <p:cNvSpPr/>
          <p:nvPr/>
        </p:nvSpPr>
        <p:spPr>
          <a:xfrm>
            <a:off x="5431536" y="804672"/>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25" name="Text 23"/>
          <p:cNvSpPr/>
          <p:nvPr/>
        </p:nvSpPr>
        <p:spPr>
          <a:xfrm>
            <a:off x="5431536" y="850392"/>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0</a:t>
            </a:r>
            <a:endParaRPr lang="en-US" sz="950" dirty="0"/>
          </a:p>
        </p:txBody>
      </p:sp>
      <p:sp>
        <p:nvSpPr>
          <p:cNvPr id="26" name="Text 24"/>
          <p:cNvSpPr/>
          <p:nvPr/>
        </p:nvSpPr>
        <p:spPr>
          <a:xfrm>
            <a:off x="5431536" y="1152144"/>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27" name="Shape 25"/>
          <p:cNvSpPr/>
          <p:nvPr/>
        </p:nvSpPr>
        <p:spPr>
          <a:xfrm>
            <a:off x="6437376" y="1133856"/>
            <a:ext cx="128016" cy="0"/>
          </a:xfrm>
          <a:prstGeom prst="line">
            <a:avLst/>
          </a:prstGeom>
          <a:noFill/>
          <a:ln w="25400">
            <a:solidFill>
              <a:srgbClr val="475569"/>
            </a:solidFill>
            <a:prstDash val="solid"/>
          </a:ln>
        </p:spPr>
        <p:txBody>
          <a:bodyPr/>
          <a:lstStyle/>
          <a:p>
            <a:endParaRPr lang="en-US"/>
          </a:p>
        </p:txBody>
      </p:sp>
      <p:sp>
        <p:nvSpPr>
          <p:cNvPr id="28" name="Shape 26"/>
          <p:cNvSpPr/>
          <p:nvPr/>
        </p:nvSpPr>
        <p:spPr>
          <a:xfrm>
            <a:off x="6565392" y="804672"/>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29" name="Text 27"/>
          <p:cNvSpPr/>
          <p:nvPr/>
        </p:nvSpPr>
        <p:spPr>
          <a:xfrm>
            <a:off x="6565392" y="850392"/>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1</a:t>
            </a:r>
            <a:endParaRPr lang="en-US" sz="950" dirty="0"/>
          </a:p>
        </p:txBody>
      </p:sp>
      <p:sp>
        <p:nvSpPr>
          <p:cNvPr id="30" name="Text 28"/>
          <p:cNvSpPr/>
          <p:nvPr/>
        </p:nvSpPr>
        <p:spPr>
          <a:xfrm>
            <a:off x="6565392" y="1152144"/>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31" name="Shape 29"/>
          <p:cNvSpPr/>
          <p:nvPr/>
        </p:nvSpPr>
        <p:spPr>
          <a:xfrm>
            <a:off x="7571232" y="1133856"/>
            <a:ext cx="128016" cy="0"/>
          </a:xfrm>
          <a:prstGeom prst="line">
            <a:avLst/>
          </a:prstGeom>
          <a:noFill/>
          <a:ln w="25400">
            <a:solidFill>
              <a:srgbClr val="475569"/>
            </a:solidFill>
            <a:prstDash val="solid"/>
          </a:ln>
        </p:spPr>
        <p:txBody>
          <a:bodyPr/>
          <a:lstStyle/>
          <a:p>
            <a:endParaRPr lang="en-US"/>
          </a:p>
        </p:txBody>
      </p:sp>
      <p:sp>
        <p:nvSpPr>
          <p:cNvPr id="32" name="Shape 30"/>
          <p:cNvSpPr/>
          <p:nvPr/>
        </p:nvSpPr>
        <p:spPr>
          <a:xfrm>
            <a:off x="7699248" y="804672"/>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33" name="Text 31"/>
          <p:cNvSpPr/>
          <p:nvPr/>
        </p:nvSpPr>
        <p:spPr>
          <a:xfrm>
            <a:off x="7699248" y="850392"/>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2</a:t>
            </a:r>
            <a:endParaRPr lang="en-US" sz="950" dirty="0"/>
          </a:p>
        </p:txBody>
      </p:sp>
      <p:sp>
        <p:nvSpPr>
          <p:cNvPr id="34" name="Text 32"/>
          <p:cNvSpPr/>
          <p:nvPr/>
        </p:nvSpPr>
        <p:spPr>
          <a:xfrm>
            <a:off x="7699248" y="1152144"/>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35" name="Shape 33"/>
          <p:cNvSpPr/>
          <p:nvPr/>
        </p:nvSpPr>
        <p:spPr>
          <a:xfrm>
            <a:off x="5431536" y="1874520"/>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36" name="Text 34"/>
          <p:cNvSpPr/>
          <p:nvPr/>
        </p:nvSpPr>
        <p:spPr>
          <a:xfrm>
            <a:off x="5431536" y="1920240"/>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3</a:t>
            </a:r>
            <a:endParaRPr lang="en-US" sz="950" dirty="0"/>
          </a:p>
        </p:txBody>
      </p:sp>
      <p:sp>
        <p:nvSpPr>
          <p:cNvPr id="37" name="Text 35"/>
          <p:cNvSpPr/>
          <p:nvPr/>
        </p:nvSpPr>
        <p:spPr>
          <a:xfrm>
            <a:off x="5431536" y="2221992"/>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38" name="Shape 36"/>
          <p:cNvSpPr/>
          <p:nvPr/>
        </p:nvSpPr>
        <p:spPr>
          <a:xfrm>
            <a:off x="6437376" y="2203704"/>
            <a:ext cx="128016" cy="0"/>
          </a:xfrm>
          <a:prstGeom prst="line">
            <a:avLst/>
          </a:prstGeom>
          <a:noFill/>
          <a:ln w="25400">
            <a:solidFill>
              <a:srgbClr val="475569"/>
            </a:solidFill>
            <a:prstDash val="solid"/>
          </a:ln>
        </p:spPr>
        <p:txBody>
          <a:bodyPr/>
          <a:lstStyle/>
          <a:p>
            <a:endParaRPr lang="en-US"/>
          </a:p>
        </p:txBody>
      </p:sp>
      <p:sp>
        <p:nvSpPr>
          <p:cNvPr id="39" name="Shape 37"/>
          <p:cNvSpPr/>
          <p:nvPr/>
        </p:nvSpPr>
        <p:spPr>
          <a:xfrm>
            <a:off x="6565392" y="1874520"/>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40" name="Text 38"/>
          <p:cNvSpPr/>
          <p:nvPr/>
        </p:nvSpPr>
        <p:spPr>
          <a:xfrm>
            <a:off x="6565392" y="1920240"/>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4</a:t>
            </a:r>
            <a:endParaRPr lang="en-US" sz="950" dirty="0"/>
          </a:p>
        </p:txBody>
      </p:sp>
      <p:sp>
        <p:nvSpPr>
          <p:cNvPr id="41" name="Text 39"/>
          <p:cNvSpPr/>
          <p:nvPr/>
        </p:nvSpPr>
        <p:spPr>
          <a:xfrm>
            <a:off x="6565392" y="2221992"/>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42" name="Shape 40"/>
          <p:cNvSpPr/>
          <p:nvPr/>
        </p:nvSpPr>
        <p:spPr>
          <a:xfrm>
            <a:off x="7571232" y="2203704"/>
            <a:ext cx="128016" cy="0"/>
          </a:xfrm>
          <a:prstGeom prst="line">
            <a:avLst/>
          </a:prstGeom>
          <a:noFill/>
          <a:ln w="25400">
            <a:solidFill>
              <a:srgbClr val="475569"/>
            </a:solidFill>
            <a:prstDash val="solid"/>
          </a:ln>
        </p:spPr>
        <p:txBody>
          <a:bodyPr/>
          <a:lstStyle/>
          <a:p>
            <a:endParaRPr lang="en-US"/>
          </a:p>
        </p:txBody>
      </p:sp>
      <p:sp>
        <p:nvSpPr>
          <p:cNvPr id="43" name="Shape 41"/>
          <p:cNvSpPr/>
          <p:nvPr/>
        </p:nvSpPr>
        <p:spPr>
          <a:xfrm>
            <a:off x="7699248" y="1874520"/>
            <a:ext cx="1005840" cy="658368"/>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44" name="Text 42"/>
          <p:cNvSpPr/>
          <p:nvPr/>
        </p:nvSpPr>
        <p:spPr>
          <a:xfrm>
            <a:off x="7699248" y="1920240"/>
            <a:ext cx="100584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 5</a:t>
            </a:r>
            <a:endParaRPr lang="en-US" sz="950" dirty="0"/>
          </a:p>
        </p:txBody>
      </p:sp>
      <p:sp>
        <p:nvSpPr>
          <p:cNvPr id="45" name="Text 43"/>
          <p:cNvSpPr/>
          <p:nvPr/>
        </p:nvSpPr>
        <p:spPr>
          <a:xfrm>
            <a:off x="7699248" y="2221992"/>
            <a:ext cx="100584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30 papers</a:t>
            </a:r>
            <a:endParaRPr lang="en-US" sz="900" dirty="0"/>
          </a:p>
        </p:txBody>
      </p:sp>
      <p:sp>
        <p:nvSpPr>
          <p:cNvPr id="46" name="Shape 44"/>
          <p:cNvSpPr/>
          <p:nvPr/>
        </p:nvSpPr>
        <p:spPr>
          <a:xfrm>
            <a:off x="4297680" y="2734056"/>
            <a:ext cx="4617720" cy="1444752"/>
          </a:xfrm>
          <a:prstGeom prst="rect">
            <a:avLst/>
          </a:prstGeom>
          <a:solidFill>
            <a:srgbClr val="FFFFFF"/>
          </a:solidFill>
          <a:ln w="6350">
            <a:solidFill>
              <a:srgbClr val="475569"/>
            </a:solidFill>
            <a:prstDash val="solid"/>
          </a:ln>
          <a:effectLst>
            <a:outerShdw blurRad="127000" dist="38100" dir="8100000" algn="bl" rotWithShape="0">
              <a:srgbClr val="000000">
                <a:alpha val="9000"/>
              </a:srgbClr>
            </a:outerShdw>
          </a:effectLst>
        </p:spPr>
        <p:txBody>
          <a:bodyPr/>
          <a:lstStyle/>
          <a:p>
            <a:endParaRPr lang="en-US"/>
          </a:p>
        </p:txBody>
      </p:sp>
      <p:sp>
        <p:nvSpPr>
          <p:cNvPr id="47" name="Text 45"/>
          <p:cNvSpPr/>
          <p:nvPr/>
        </p:nvSpPr>
        <p:spPr>
          <a:xfrm>
            <a:off x="4389120" y="2825496"/>
            <a:ext cx="438912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 xml:space="preserve">Pool grows each generation:  </a:t>
            </a:r>
            <a:r>
              <a:rPr lang="en-US" sz="1100" b="1" dirty="0">
                <a:solidFill>
                  <a:srgbClr val="0891B2"/>
                </a:solidFill>
                <a:latin typeface="Calibri" pitchFamily="34" charset="0"/>
                <a:ea typeface="Calibri" pitchFamily="34" charset="-122"/>
                <a:cs typeface="Calibri" pitchFamily="34" charset="-120"/>
              </a:rPr>
              <a:t>30 → 60 → 90 → 120 → 150 → 180 → 210 total</a:t>
            </a:r>
            <a:endParaRPr lang="en-US" sz="1100" dirty="0"/>
          </a:p>
        </p:txBody>
      </p:sp>
      <p:sp>
        <p:nvSpPr>
          <p:cNvPr id="48" name="Text 46"/>
          <p:cNvSpPr/>
          <p:nvPr/>
        </p:nvSpPr>
        <p:spPr>
          <a:xfrm>
            <a:off x="4389120" y="3191256"/>
            <a:ext cx="4389120" cy="6400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Fake author names + publication years on ALL papers ensure the LLM cannot recognize individual papers by identity. Paper types: ~50% literature reviews, ~50% position papers.</a:t>
            </a:r>
            <a:endParaRPr lang="en-US" sz="1100" dirty="0"/>
          </a:p>
        </p:txBody>
      </p:sp>
      <p:sp>
        <p:nvSpPr>
          <p:cNvPr id="49" name="Text 47"/>
          <p:cNvSpPr/>
          <p:nvPr/>
        </p:nvSpPr>
        <p:spPr>
          <a:xfrm>
            <a:off x="4389120" y="3877056"/>
            <a:ext cx="438912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~4,255 citations generated  ·  0.16% hallucination rate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Scope, Limitations &amp; Potential Biases</a:t>
            </a:r>
            <a:endParaRPr lang="en-US" sz="2000" dirty="0"/>
          </a:p>
        </p:txBody>
      </p:sp>
      <p:sp>
        <p:nvSpPr>
          <p:cNvPr id="5" name="Shape 3"/>
          <p:cNvSpPr/>
          <p:nvPr/>
        </p:nvSpPr>
        <p:spPr>
          <a:xfrm>
            <a:off x="91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91440" y="804672"/>
            <a:ext cx="54864" cy="1298448"/>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219456" y="896112"/>
            <a:ext cx="1554480" cy="246888"/>
          </a:xfrm>
          <a:prstGeom prst="rect">
            <a:avLst/>
          </a:prstGeom>
          <a:solidFill>
            <a:srgbClr val="0891B2"/>
          </a:solidFill>
          <a:ln w="12700">
            <a:solidFill>
              <a:srgbClr val="0891B2"/>
            </a:solidFill>
            <a:prstDash val="solid"/>
          </a:ln>
        </p:spPr>
        <p:txBody>
          <a:bodyPr/>
          <a:lstStyle/>
          <a:p>
            <a:endParaRPr lang="en-US"/>
          </a:p>
        </p:txBody>
      </p:sp>
      <p:sp>
        <p:nvSpPr>
          <p:cNvPr id="8" name="Text 6"/>
          <p:cNvSpPr/>
          <p:nvPr/>
        </p:nvSpPr>
        <p:spPr>
          <a:xfrm>
            <a:off x="219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SINGLE MODEL</a:t>
            </a:r>
            <a:endParaRPr lang="en-US" sz="850" dirty="0"/>
          </a:p>
        </p:txBody>
      </p:sp>
      <p:sp>
        <p:nvSpPr>
          <p:cNvPr id="9" name="Text 7"/>
          <p:cNvSpPr/>
          <p:nvPr/>
        </p:nvSpPr>
        <p:spPr>
          <a:xfrm>
            <a:off x="237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Single Model: GPT-4.5-mini</a:t>
            </a:r>
            <a:endParaRPr lang="en-US" sz="1200" dirty="0"/>
          </a:p>
        </p:txBody>
      </p:sp>
      <p:sp>
        <p:nvSpPr>
          <p:cNvPr id="10" name="Text 8"/>
          <p:cNvSpPr/>
          <p:nvPr/>
        </p:nvSpPr>
        <p:spPr>
          <a:xfrm>
            <a:off x="237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Only one model was tested. Different LLMs with different training data, RLHF, or temperature settings may cite differently. The specific magnitude of inequality may not generalize.</a:t>
            </a:r>
            <a:endParaRPr lang="en-US" sz="1100" dirty="0"/>
          </a:p>
        </p:txBody>
      </p:sp>
      <p:sp>
        <p:nvSpPr>
          <p:cNvPr id="11" name="Shape 9"/>
          <p:cNvSpPr/>
          <p:nvPr/>
        </p:nvSpPr>
        <p:spPr>
          <a:xfrm>
            <a:off x="4663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2" name="Shape 10"/>
          <p:cNvSpPr/>
          <p:nvPr/>
        </p:nvSpPr>
        <p:spPr>
          <a:xfrm>
            <a:off x="4663440" y="804672"/>
            <a:ext cx="54864" cy="1298448"/>
          </a:xfrm>
          <a:prstGeom prst="rect">
            <a:avLst/>
          </a:prstGeom>
          <a:solidFill>
            <a:srgbClr val="EA580C"/>
          </a:solidFill>
          <a:ln w="12700">
            <a:solidFill>
              <a:srgbClr val="EA580C"/>
            </a:solidFill>
            <a:prstDash val="solid"/>
          </a:ln>
        </p:spPr>
        <p:txBody>
          <a:bodyPr/>
          <a:lstStyle/>
          <a:p>
            <a:endParaRPr lang="en-US"/>
          </a:p>
        </p:txBody>
      </p:sp>
      <p:sp>
        <p:nvSpPr>
          <p:cNvPr id="13" name="Shape 11"/>
          <p:cNvSpPr/>
          <p:nvPr/>
        </p:nvSpPr>
        <p:spPr>
          <a:xfrm>
            <a:off x="4791456" y="896112"/>
            <a:ext cx="1554480" cy="246888"/>
          </a:xfrm>
          <a:prstGeom prst="rect">
            <a:avLst/>
          </a:prstGeom>
          <a:solidFill>
            <a:srgbClr val="EA580C"/>
          </a:solidFill>
          <a:ln w="12700">
            <a:solidFill>
              <a:srgbClr val="EA580C"/>
            </a:solidFill>
            <a:prstDash val="solid"/>
          </a:ln>
        </p:spPr>
        <p:txBody>
          <a:bodyPr/>
          <a:lstStyle/>
          <a:p>
            <a:endParaRPr lang="en-US"/>
          </a:p>
        </p:txBody>
      </p:sp>
      <p:sp>
        <p:nvSpPr>
          <p:cNvPr id="14" name="Text 12"/>
          <p:cNvSpPr/>
          <p:nvPr/>
        </p:nvSpPr>
        <p:spPr>
          <a:xfrm>
            <a:off x="4791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SINGLE TOPIC</a:t>
            </a:r>
            <a:endParaRPr lang="en-US" sz="850" dirty="0"/>
          </a:p>
        </p:txBody>
      </p:sp>
      <p:sp>
        <p:nvSpPr>
          <p:cNvPr id="15" name="Text 13"/>
          <p:cNvSpPr/>
          <p:nvPr/>
        </p:nvSpPr>
        <p:spPr>
          <a:xfrm>
            <a:off x="4809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Single Topic: Knowledge Distillation</a:t>
            </a:r>
            <a:endParaRPr lang="en-US" sz="1200" dirty="0"/>
          </a:p>
        </p:txBody>
      </p:sp>
      <p:sp>
        <p:nvSpPr>
          <p:cNvPr id="16" name="Text 14"/>
          <p:cNvSpPr/>
          <p:nvPr/>
        </p:nvSpPr>
        <p:spPr>
          <a:xfrm>
            <a:off x="4809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Only one research topic was used. v1 (attention mechanisms) produced extreme Gini (0.79) because the LLM had strong priors about famous attention papers. Topic familiarity is a significant confound.</a:t>
            </a:r>
            <a:endParaRPr lang="en-US" sz="1100" dirty="0"/>
          </a:p>
        </p:txBody>
      </p:sp>
      <p:sp>
        <p:nvSpPr>
          <p:cNvPr id="17" name="Shape 15"/>
          <p:cNvSpPr/>
          <p:nvPr/>
        </p:nvSpPr>
        <p:spPr>
          <a:xfrm>
            <a:off x="91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8" name="Shape 16"/>
          <p:cNvSpPr/>
          <p:nvPr/>
        </p:nvSpPr>
        <p:spPr>
          <a:xfrm>
            <a:off x="91440" y="2194560"/>
            <a:ext cx="54864" cy="1298448"/>
          </a:xfrm>
          <a:prstGeom prst="rect">
            <a:avLst/>
          </a:prstGeom>
          <a:solidFill>
            <a:srgbClr val="4F46E5"/>
          </a:solidFill>
          <a:ln w="12700">
            <a:solidFill>
              <a:srgbClr val="4F46E5"/>
            </a:solidFill>
            <a:prstDash val="solid"/>
          </a:ln>
        </p:spPr>
        <p:txBody>
          <a:bodyPr/>
          <a:lstStyle/>
          <a:p>
            <a:endParaRPr lang="en-US"/>
          </a:p>
        </p:txBody>
      </p:sp>
      <p:sp>
        <p:nvSpPr>
          <p:cNvPr id="19" name="Shape 17"/>
          <p:cNvSpPr/>
          <p:nvPr/>
        </p:nvSpPr>
        <p:spPr>
          <a:xfrm>
            <a:off x="219456" y="2286000"/>
            <a:ext cx="1554480" cy="24688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219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TRAINING BIAS</a:t>
            </a:r>
            <a:endParaRPr lang="en-US" sz="850" dirty="0"/>
          </a:p>
        </p:txBody>
      </p:sp>
      <p:sp>
        <p:nvSpPr>
          <p:cNvPr id="21" name="Text 19"/>
          <p:cNvSpPr/>
          <p:nvPr/>
        </p:nvSpPr>
        <p:spPr>
          <a:xfrm>
            <a:off x="237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LLM Training Data Familiarity</a:t>
            </a:r>
            <a:endParaRPr lang="en-US" sz="1200" dirty="0"/>
          </a:p>
        </p:txBody>
      </p:sp>
      <p:sp>
        <p:nvSpPr>
          <p:cNvPr id="22" name="Text 20"/>
          <p:cNvSpPr/>
          <p:nvPr/>
        </p:nvSpPr>
        <p:spPr>
          <a:xfrm>
            <a:off x="237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GPT-4.5-mini may have encountered real seed papers during pretraining. Even with anonymized names and years, abstract content and terminology could make real papers subtly recognizable to the model.</a:t>
            </a:r>
            <a:endParaRPr lang="en-US" sz="1100" dirty="0"/>
          </a:p>
        </p:txBody>
      </p:sp>
      <p:sp>
        <p:nvSpPr>
          <p:cNvPr id="23" name="Shape 21"/>
          <p:cNvSpPr/>
          <p:nvPr/>
        </p:nvSpPr>
        <p:spPr>
          <a:xfrm>
            <a:off x="4663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24" name="Shape 22"/>
          <p:cNvSpPr/>
          <p:nvPr/>
        </p:nvSpPr>
        <p:spPr>
          <a:xfrm>
            <a:off x="4663440" y="2194560"/>
            <a:ext cx="54864" cy="1298448"/>
          </a:xfrm>
          <a:prstGeom prst="rect">
            <a:avLst/>
          </a:prstGeom>
          <a:solidFill>
            <a:srgbClr val="16A34A"/>
          </a:solidFill>
          <a:ln w="12700">
            <a:solidFill>
              <a:srgbClr val="16A34A"/>
            </a:solidFill>
            <a:prstDash val="solid"/>
          </a:ln>
        </p:spPr>
        <p:txBody>
          <a:bodyPr/>
          <a:lstStyle/>
          <a:p>
            <a:endParaRPr lang="en-US"/>
          </a:p>
        </p:txBody>
      </p:sp>
      <p:sp>
        <p:nvSpPr>
          <p:cNvPr id="25" name="Shape 23"/>
          <p:cNvSpPr/>
          <p:nvPr/>
        </p:nvSpPr>
        <p:spPr>
          <a:xfrm>
            <a:off x="4791456" y="2286000"/>
            <a:ext cx="1554480" cy="246888"/>
          </a:xfrm>
          <a:prstGeom prst="rect">
            <a:avLst/>
          </a:prstGeom>
          <a:solidFill>
            <a:srgbClr val="16A34A"/>
          </a:solidFill>
          <a:ln w="12700">
            <a:solidFill>
              <a:srgbClr val="16A34A"/>
            </a:solidFill>
            <a:prstDash val="solid"/>
          </a:ln>
        </p:spPr>
        <p:txBody>
          <a:bodyPr/>
          <a:lstStyle/>
          <a:p>
            <a:endParaRPr lang="en-US"/>
          </a:p>
        </p:txBody>
      </p:sp>
      <p:sp>
        <p:nvSpPr>
          <p:cNvPr id="26" name="Text 24"/>
          <p:cNvSpPr/>
          <p:nvPr/>
        </p:nvSpPr>
        <p:spPr>
          <a:xfrm>
            <a:off x="4791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FIRST-MOVER</a:t>
            </a:r>
            <a:endParaRPr lang="en-US" sz="850" dirty="0"/>
          </a:p>
        </p:txBody>
      </p:sp>
      <p:sp>
        <p:nvSpPr>
          <p:cNvPr id="27" name="Text 25"/>
          <p:cNvSpPr/>
          <p:nvPr/>
        </p:nvSpPr>
        <p:spPr>
          <a:xfrm>
            <a:off x="4809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First-Mover Structural Advantage</a:t>
            </a:r>
            <a:endParaRPr lang="en-US" sz="1200" dirty="0"/>
          </a:p>
        </p:txBody>
      </p:sp>
      <p:sp>
        <p:nvSpPr>
          <p:cNvPr id="28" name="Text 26"/>
          <p:cNvSpPr/>
          <p:nvPr/>
        </p:nvSpPr>
        <p:spPr>
          <a:xfrm>
            <a:off x="4809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Seed papers appear in citation pools for all 6 generations; papers added in Gen 3 can only be cited in 3 remaining gens. Some inequality is structural — not purely a quality preference.</a:t>
            </a:r>
            <a:endParaRPr lang="en-US" sz="1100" dirty="0"/>
          </a:p>
        </p:txBody>
      </p:sp>
      <p:sp>
        <p:nvSpPr>
          <p:cNvPr id="29" name="Shape 27"/>
          <p:cNvSpPr/>
          <p:nvPr/>
        </p:nvSpPr>
        <p:spPr>
          <a:xfrm>
            <a:off x="91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0" name="Shape 28"/>
          <p:cNvSpPr/>
          <p:nvPr/>
        </p:nvSpPr>
        <p:spPr>
          <a:xfrm>
            <a:off x="91440" y="3584448"/>
            <a:ext cx="54864" cy="1298448"/>
          </a:xfrm>
          <a:prstGeom prst="rect">
            <a:avLst/>
          </a:prstGeom>
          <a:solidFill>
            <a:srgbClr val="7C3AED"/>
          </a:solidFill>
          <a:ln w="12700">
            <a:solidFill>
              <a:srgbClr val="7C3AED"/>
            </a:solidFill>
            <a:prstDash val="solid"/>
          </a:ln>
        </p:spPr>
        <p:txBody>
          <a:bodyPr/>
          <a:lstStyle/>
          <a:p>
            <a:endParaRPr lang="en-US"/>
          </a:p>
        </p:txBody>
      </p:sp>
      <p:sp>
        <p:nvSpPr>
          <p:cNvPr id="31" name="Shape 29"/>
          <p:cNvSpPr/>
          <p:nvPr/>
        </p:nvSpPr>
        <p:spPr>
          <a:xfrm>
            <a:off x="219456" y="3675888"/>
            <a:ext cx="1554480" cy="246888"/>
          </a:xfrm>
          <a:prstGeom prst="rect">
            <a:avLst/>
          </a:prstGeom>
          <a:solidFill>
            <a:srgbClr val="7C3AED"/>
          </a:solidFill>
          <a:ln w="12700">
            <a:solidFill>
              <a:srgbClr val="7C3AED"/>
            </a:solidFill>
            <a:prstDash val="solid"/>
          </a:ln>
        </p:spPr>
        <p:txBody>
          <a:bodyPr/>
          <a:lstStyle/>
          <a:p>
            <a:endParaRPr lang="en-US"/>
          </a:p>
        </p:txBody>
      </p:sp>
      <p:sp>
        <p:nvSpPr>
          <p:cNvPr id="32" name="Text 30"/>
          <p:cNvSpPr/>
          <p:nvPr/>
        </p:nvSpPr>
        <p:spPr>
          <a:xfrm>
            <a:off x="219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TEMPORAL SIGNAL</a:t>
            </a:r>
            <a:endParaRPr lang="en-US" sz="850" dirty="0"/>
          </a:p>
        </p:txBody>
      </p:sp>
      <p:sp>
        <p:nvSpPr>
          <p:cNvPr id="33" name="Text 31"/>
          <p:cNvSpPr/>
          <p:nvPr/>
        </p:nvSpPr>
        <p:spPr>
          <a:xfrm>
            <a:off x="237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Date Range Overlap</a:t>
            </a:r>
            <a:endParaRPr lang="en-US" sz="1200" dirty="0"/>
          </a:p>
        </p:txBody>
      </p:sp>
      <p:sp>
        <p:nvSpPr>
          <p:cNvPr id="34" name="Text 32"/>
          <p:cNvSpPr/>
          <p:nvPr/>
        </p:nvSpPr>
        <p:spPr>
          <a:xfrm>
            <a:off x="237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Seeds use years 2017–2022; generated papers 2017–2025. If the LLM associates recency with relevance, the partial overlap introduces a mild temporal preference signal.</a:t>
            </a:r>
            <a:endParaRPr lang="en-US" sz="1100" dirty="0"/>
          </a:p>
        </p:txBody>
      </p:sp>
      <p:sp>
        <p:nvSpPr>
          <p:cNvPr id="35" name="Shape 33"/>
          <p:cNvSpPr/>
          <p:nvPr/>
        </p:nvSpPr>
        <p:spPr>
          <a:xfrm>
            <a:off x="4663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6" name="Shape 34"/>
          <p:cNvSpPr/>
          <p:nvPr/>
        </p:nvSpPr>
        <p:spPr>
          <a:xfrm>
            <a:off x="4663440" y="3584448"/>
            <a:ext cx="54864" cy="1298448"/>
          </a:xfrm>
          <a:prstGeom prst="rect">
            <a:avLst/>
          </a:prstGeom>
          <a:solidFill>
            <a:srgbClr val="B45309"/>
          </a:solidFill>
          <a:ln w="12700">
            <a:solidFill>
              <a:srgbClr val="B45309"/>
            </a:solidFill>
            <a:prstDash val="solid"/>
          </a:ln>
        </p:spPr>
        <p:txBody>
          <a:bodyPr/>
          <a:lstStyle/>
          <a:p>
            <a:endParaRPr lang="en-US"/>
          </a:p>
        </p:txBody>
      </p:sp>
      <p:sp>
        <p:nvSpPr>
          <p:cNvPr id="37" name="Shape 35"/>
          <p:cNvSpPr/>
          <p:nvPr/>
        </p:nvSpPr>
        <p:spPr>
          <a:xfrm>
            <a:off x="4791456" y="3675888"/>
            <a:ext cx="1554480" cy="246888"/>
          </a:xfrm>
          <a:prstGeom prst="rect">
            <a:avLst/>
          </a:prstGeom>
          <a:solidFill>
            <a:srgbClr val="B45309"/>
          </a:solidFill>
          <a:ln w="12700">
            <a:solidFill>
              <a:srgbClr val="B45309"/>
            </a:solidFill>
            <a:prstDash val="solid"/>
          </a:ln>
        </p:spPr>
        <p:txBody>
          <a:bodyPr/>
          <a:lstStyle/>
          <a:p>
            <a:endParaRPr lang="en-US"/>
          </a:p>
        </p:txBody>
      </p:sp>
      <p:sp>
        <p:nvSpPr>
          <p:cNvPr id="38" name="Text 36"/>
          <p:cNvSpPr/>
          <p:nvPr/>
        </p:nvSpPr>
        <p:spPr>
          <a:xfrm>
            <a:off x="4791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POOL SAMPLING</a:t>
            </a:r>
            <a:endParaRPr lang="en-US" sz="850" dirty="0"/>
          </a:p>
        </p:txBody>
      </p:sp>
      <p:sp>
        <p:nvSpPr>
          <p:cNvPr id="39" name="Text 37"/>
          <p:cNvSpPr/>
          <p:nvPr/>
        </p:nvSpPr>
        <p:spPr>
          <a:xfrm>
            <a:off x="4809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Random 30-Paper Sampling</a:t>
            </a:r>
            <a:endParaRPr lang="en-US" sz="1200" dirty="0"/>
          </a:p>
        </p:txBody>
      </p:sp>
      <p:sp>
        <p:nvSpPr>
          <p:cNvPr id="40" name="Text 38"/>
          <p:cNvSpPr/>
          <p:nvPr/>
        </p:nvSpPr>
        <p:spPr>
          <a:xfrm>
            <a:off x="4809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Each paper sees only 30 randomly sampled context papers (not the full pool). Low-quality papers may appear in fewer samples by chance, confounding citation rate estimates.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1: Citation Inequality Nearly Triples Over 6 Generations</a:t>
            </a:r>
            <a:endParaRPr lang="en-US" sz="2000" dirty="0"/>
          </a:p>
        </p:txBody>
      </p:sp>
      <p:pic>
        <p:nvPicPr>
          <p:cNvPr id="5" name="Image 0" descr="/sessions/eloquent-loving-dijkstra/mnt/alpha_0.2.0/output/analysis_figures/gini_progression.png"/>
          <p:cNvPicPr>
            <a:picLocks noChangeAspect="1"/>
          </p:cNvPicPr>
          <p:nvPr/>
        </p:nvPicPr>
        <p:blipFill>
          <a:blip r:embed="rId3"/>
          <a:srcRect/>
          <a:stretch/>
        </p:blipFill>
        <p:spPr>
          <a:xfrm>
            <a:off x="91440" y="777240"/>
            <a:ext cx="5029200" cy="3145536"/>
          </a:xfrm>
          <a:prstGeom prst="rect">
            <a:avLst/>
          </a:prstGeom>
        </p:spPr>
      </p:pic>
      <p:pic>
        <p:nvPicPr>
          <p:cNvPr id="6" name="Image 1" descr="/sessions/eloquent-loving-dijkstra/mnt/alpha_0.2.0/output/analysis_figures/summary_table.png"/>
          <p:cNvPicPr>
            <a:picLocks noChangeAspect="1"/>
          </p:cNvPicPr>
          <p:nvPr/>
        </p:nvPicPr>
        <p:blipFill>
          <a:blip r:embed="rId4"/>
          <a:srcRect/>
          <a:stretch/>
        </p:blipFill>
        <p:spPr>
          <a:xfrm>
            <a:off x="5257800" y="777240"/>
            <a:ext cx="3749040" cy="1371600"/>
          </a:xfrm>
          <a:prstGeom prst="rect">
            <a:avLst/>
          </a:prstGeom>
        </p:spPr>
      </p:pic>
      <p:sp>
        <p:nvSpPr>
          <p:cNvPr id="7" name="Shape 3"/>
          <p:cNvSpPr/>
          <p:nvPr/>
        </p:nvSpPr>
        <p:spPr>
          <a:xfrm>
            <a:off x="5257800" y="2286000"/>
            <a:ext cx="1737360" cy="1645920"/>
          </a:xfrm>
          <a:prstGeom prst="rect">
            <a:avLst/>
          </a:prstGeom>
          <a:solidFill>
            <a:srgbClr val="EA580C"/>
          </a:solidFill>
          <a:ln w="12700">
            <a:solidFill>
              <a:srgbClr val="EA580C"/>
            </a:solidFill>
            <a:prstDash val="solid"/>
          </a:ln>
          <a:effectLst>
            <a:outerShdw blurRad="127000" dist="38100" dir="8100000" algn="bl" rotWithShape="0">
              <a:srgbClr val="000000">
                <a:alpha val="9000"/>
              </a:srgbClr>
            </a:outerShdw>
          </a:effectLst>
        </p:spPr>
        <p:txBody>
          <a:bodyPr/>
          <a:lstStyle/>
          <a:p>
            <a:endParaRPr lang="en-US"/>
          </a:p>
        </p:txBody>
      </p:sp>
      <p:sp>
        <p:nvSpPr>
          <p:cNvPr id="8" name="Text 4"/>
          <p:cNvSpPr/>
          <p:nvPr/>
        </p:nvSpPr>
        <p:spPr>
          <a:xfrm>
            <a:off x="5257800" y="2377440"/>
            <a:ext cx="1737360" cy="954634"/>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9" name="Text 5"/>
          <p:cNvSpPr/>
          <p:nvPr/>
        </p:nvSpPr>
        <p:spPr>
          <a:xfrm>
            <a:off x="5257800" y="3240634"/>
            <a:ext cx="1737360" cy="592531"/>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Increase in Gini</a:t>
            </a:r>
            <a:endParaRPr lang="en-US" sz="1100" dirty="0"/>
          </a:p>
        </p:txBody>
      </p:sp>
      <p:sp>
        <p:nvSpPr>
          <p:cNvPr id="10" name="Shape 6"/>
          <p:cNvSpPr/>
          <p:nvPr/>
        </p:nvSpPr>
        <p:spPr>
          <a:xfrm>
            <a:off x="7086600" y="2286000"/>
            <a:ext cx="1920240" cy="1645920"/>
          </a:xfrm>
          <a:prstGeom prst="rect">
            <a:avLst/>
          </a:prstGeom>
          <a:solidFill>
            <a:srgbClr val="0F1E33"/>
          </a:solidFill>
          <a:ln w="12700">
            <a:solidFill>
              <a:srgbClr val="0F1E33"/>
            </a:solidFill>
            <a:prstDash val="solid"/>
          </a:ln>
          <a:effectLst>
            <a:outerShdw blurRad="127000" dist="38100" dir="8100000" algn="bl" rotWithShape="0">
              <a:srgbClr val="000000">
                <a:alpha val="9000"/>
              </a:srgbClr>
            </a:outerShdw>
          </a:effectLst>
        </p:spPr>
        <p:txBody>
          <a:bodyPr/>
          <a:lstStyle/>
          <a:p>
            <a:endParaRPr lang="en-US"/>
          </a:p>
        </p:txBody>
      </p:sp>
      <p:sp>
        <p:nvSpPr>
          <p:cNvPr id="11" name="Text 7"/>
          <p:cNvSpPr/>
          <p:nvPr/>
        </p:nvSpPr>
        <p:spPr>
          <a:xfrm>
            <a:off x="7086600" y="2377440"/>
            <a:ext cx="1920240" cy="954634"/>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0.321</a:t>
            </a:r>
            <a:endParaRPr lang="en-US" sz="3000" dirty="0"/>
          </a:p>
        </p:txBody>
      </p:sp>
      <p:sp>
        <p:nvSpPr>
          <p:cNvPr id="12" name="Text 8"/>
          <p:cNvSpPr/>
          <p:nvPr/>
        </p:nvSpPr>
        <p:spPr>
          <a:xfrm>
            <a:off x="7086600" y="3240634"/>
            <a:ext cx="1920240" cy="592531"/>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Gini at Gen 5</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(from 0.106)</a:t>
            </a:r>
            <a:endParaRPr lang="en-US" sz="1100" dirty="0"/>
          </a:p>
        </p:txBody>
      </p:sp>
      <p:sp>
        <p:nvSpPr>
          <p:cNvPr id="13" name="Shape 9"/>
          <p:cNvSpPr/>
          <p:nvPr/>
        </p:nvSpPr>
        <p:spPr>
          <a:xfrm>
            <a:off x="91440" y="4005072"/>
            <a:ext cx="8915400" cy="97840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4" name="Shape 10"/>
          <p:cNvSpPr/>
          <p:nvPr/>
        </p:nvSpPr>
        <p:spPr>
          <a:xfrm>
            <a:off x="91440" y="4005072"/>
            <a:ext cx="54864" cy="978408"/>
          </a:xfrm>
          <a:prstGeom prst="rect">
            <a:avLst/>
          </a:prstGeom>
          <a:solidFill>
            <a:srgbClr val="0891B2"/>
          </a:solidFill>
          <a:ln w="12700">
            <a:solidFill>
              <a:srgbClr val="0891B2"/>
            </a:solidFill>
            <a:prstDash val="solid"/>
          </a:ln>
        </p:spPr>
        <p:txBody>
          <a:bodyPr/>
          <a:lstStyle/>
          <a:p>
            <a:endParaRPr lang="en-US"/>
          </a:p>
        </p:txBody>
      </p:sp>
      <p:sp>
        <p:nvSpPr>
          <p:cNvPr id="15" name="Text 11"/>
          <p:cNvSpPr/>
          <p:nvPr/>
        </p:nvSpPr>
        <p:spPr>
          <a:xfrm>
            <a:off x="201168" y="4059936"/>
            <a:ext cx="8732520" cy="82296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The Gini rises monotonically — 0.106 → 0.190 → 0.208 → 0.262 → 0.301 → 0.321 — with no regression at any generation. This monotonicity is critical: it rules out a transient initialization artifact and points to a stable, persistent mechanism. For reference, a Gini of 0.3+ is comparable to moderate income inequality in developed economies.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2: LLM Inequality Exceeds Random &amp; Semantic Baselines at Every Generation</a:t>
            </a:r>
            <a:endParaRPr lang="en-US" sz="2000" dirty="0"/>
          </a:p>
        </p:txBody>
      </p:sp>
      <p:pic>
        <p:nvPicPr>
          <p:cNvPr id="5" name="Image 0" descr="/sessions/eloquent-loving-dijkstra/mnt/alpha_0.2.0/output/additional_evidence/gini_comparison.png"/>
          <p:cNvPicPr>
            <a:picLocks noChangeAspect="1"/>
          </p:cNvPicPr>
          <p:nvPr/>
        </p:nvPicPr>
        <p:blipFill>
          <a:blip r:embed="rId3"/>
          <a:srcRect/>
          <a:stretch/>
        </p:blipFill>
        <p:spPr>
          <a:xfrm>
            <a:off x="822960" y="804672"/>
            <a:ext cx="7498080" cy="3246120"/>
          </a:xfrm>
          <a:prstGeom prst="rect">
            <a:avLst/>
          </a:prstGeom>
        </p:spPr>
      </p:pic>
      <p:sp>
        <p:nvSpPr>
          <p:cNvPr id="6" name="Shape 3"/>
          <p:cNvSpPr/>
          <p:nvPr/>
        </p:nvSpPr>
        <p:spPr>
          <a:xfrm>
            <a:off x="91440" y="4133088"/>
            <a:ext cx="8915400" cy="82296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7" name="Shape 4"/>
          <p:cNvSpPr/>
          <p:nvPr/>
        </p:nvSpPr>
        <p:spPr>
          <a:xfrm>
            <a:off x="91440" y="4133088"/>
            <a:ext cx="54864" cy="822960"/>
          </a:xfrm>
          <a:prstGeom prst="rect">
            <a:avLst/>
          </a:prstGeom>
          <a:solidFill>
            <a:srgbClr val="0891B2"/>
          </a:solidFill>
          <a:ln w="12700">
            <a:solidFill>
              <a:srgbClr val="0891B2"/>
            </a:solidFill>
            <a:prstDash val="solid"/>
          </a:ln>
        </p:spPr>
        <p:txBody>
          <a:bodyPr/>
          <a:lstStyle/>
          <a:p>
            <a:endParaRPr lang="en-US"/>
          </a:p>
        </p:txBody>
      </p:sp>
      <p:sp>
        <p:nvSpPr>
          <p:cNvPr id="8" name="Text 5"/>
          <p:cNvSpPr/>
          <p:nvPr/>
        </p:nvSpPr>
        <p:spPr>
          <a:xfrm>
            <a:off x="201168" y="4178808"/>
            <a:ext cx="8732520" cy="71323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xml:space="preserve">Two baselines were constructed: </a:t>
            </a:r>
            <a:r>
              <a:rPr lang="en-US" sz="1150" b="1" dirty="0">
                <a:solidFill>
                  <a:srgbClr val="EA580C"/>
                </a:solidFill>
                <a:latin typeface="Calibri" pitchFamily="34" charset="0"/>
                <a:ea typeface="Calibri" pitchFamily="34" charset="-122"/>
                <a:cs typeface="Calibri" pitchFamily="34" charset="-120"/>
              </a:rPr>
              <a:t>Random</a:t>
            </a:r>
            <a:r>
              <a:rPr lang="en-US" sz="1150" dirty="0">
                <a:solidFill>
                  <a:srgbClr val="475569"/>
                </a:solidFill>
                <a:latin typeface="Calibri" pitchFamily="34" charset="0"/>
                <a:ea typeface="Calibri" pitchFamily="34" charset="-122"/>
                <a:cs typeface="Calibri" pitchFamily="34" charset="-120"/>
              </a:rPr>
              <a:t xml:space="preserve"> (citations assigned uniformly at random from the available pool) and </a:t>
            </a:r>
            <a:r>
              <a:rPr lang="en-US" sz="1150" b="1" dirty="0">
                <a:solidFill>
                  <a:srgbClr val="16A34A"/>
                </a:solidFill>
                <a:latin typeface="Calibri" pitchFamily="34" charset="0"/>
                <a:ea typeface="Calibri" pitchFamily="34" charset="-122"/>
                <a:cs typeface="Calibri" pitchFamily="34" charset="-120"/>
              </a:rPr>
              <a:t>Semantic</a:t>
            </a:r>
            <a:r>
              <a:rPr lang="en-US" sz="1150" dirty="0">
                <a:solidFill>
                  <a:srgbClr val="475569"/>
                </a:solidFill>
                <a:latin typeface="Calibri" pitchFamily="34" charset="0"/>
                <a:ea typeface="Calibri" pitchFamily="34" charset="-122"/>
                <a:cs typeface="Calibri" pitchFamily="34" charset="-120"/>
              </a:rPr>
              <a:t xml:space="preserve"> (citations assigned by cosine similarity between abstracts). The LLM exceeds both at every generation. Gap is largest early (Gen 0: LLM 0.106 vs. baselines ~0.04–0.05) and narrows by Gen 5 (0.321 vs. ~0.28), confirming that the LLM introduces additional concentration beyond what pool structure or relevance alone would produce.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3: Seed Papers Capture a Disproportionate Share of Citations</a:t>
            </a:r>
            <a:endParaRPr lang="en-US" sz="2000" dirty="0"/>
          </a:p>
        </p:txBody>
      </p:sp>
      <p:pic>
        <p:nvPicPr>
          <p:cNvPr id="5" name="Image 0" descr="/sessions/eloquent-loving-dijkstra/mnt/alpha_0.2.0/output/paper_type_citations/paper_type_across_generations.png"/>
          <p:cNvPicPr>
            <a:picLocks noChangeAspect="1"/>
          </p:cNvPicPr>
          <p:nvPr/>
        </p:nvPicPr>
        <p:blipFill>
          <a:blip r:embed="rId3"/>
          <a:srcRect/>
          <a:stretch/>
        </p:blipFill>
        <p:spPr>
          <a:xfrm>
            <a:off x="91440" y="777240"/>
            <a:ext cx="3474720" cy="3474720"/>
          </a:xfrm>
          <a:prstGeom prst="rect">
            <a:avLst/>
          </a:prstGeom>
        </p:spPr>
      </p:pic>
      <p:pic>
        <p:nvPicPr>
          <p:cNvPr id="6" name="Image 1" descr="/sessions/eloquent-loving-dijkstra/mnt/alpha_0.2.0/output/paper_type_citations/paper_type_by_node.png"/>
          <p:cNvPicPr>
            <a:picLocks noChangeAspect="1"/>
          </p:cNvPicPr>
          <p:nvPr/>
        </p:nvPicPr>
        <p:blipFill>
          <a:blip r:embed="rId4"/>
          <a:srcRect/>
          <a:stretch/>
        </p:blipFill>
        <p:spPr>
          <a:xfrm>
            <a:off x="3749040" y="804672"/>
            <a:ext cx="5303520" cy="3182112"/>
          </a:xfrm>
          <a:prstGeom prst="rect">
            <a:avLst/>
          </a:prstGeom>
        </p:spPr>
      </p:pic>
      <p:sp>
        <p:nvSpPr>
          <p:cNvPr id="7" name="Shape 3"/>
          <p:cNvSpPr/>
          <p:nvPr/>
        </p:nvSpPr>
        <p:spPr>
          <a:xfrm>
            <a:off x="91440" y="4325112"/>
            <a:ext cx="8961120" cy="658368"/>
          </a:xfrm>
          <a:prstGeom prst="rect">
            <a:avLst/>
          </a:prstGeom>
          <a:solidFill>
            <a:srgbClr val="EA580C"/>
          </a:solidFill>
          <a:ln w="12700">
            <a:solidFill>
              <a:srgbClr val="EA580C"/>
            </a:solidFill>
            <a:prstDash val="solid"/>
          </a:ln>
        </p:spPr>
        <p:txBody>
          <a:bodyPr/>
          <a:lstStyle/>
          <a:p>
            <a:endParaRPr lang="en-US"/>
          </a:p>
        </p:txBody>
      </p:sp>
      <p:sp>
        <p:nvSpPr>
          <p:cNvPr id="8" name="Text 4"/>
          <p:cNvSpPr/>
          <p:nvPr/>
        </p:nvSpPr>
        <p:spPr>
          <a:xfrm>
            <a:off x="182880" y="4352544"/>
            <a:ext cx="877824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14.3%</a:t>
            </a:r>
            <a:r>
              <a:rPr lang="en-US" sz="1300" dirty="0">
                <a:solidFill>
                  <a:srgbClr val="FFFFFF"/>
                </a:solidFill>
                <a:latin typeface="Calibri" pitchFamily="34" charset="0"/>
                <a:ea typeface="Calibri" pitchFamily="34" charset="-122"/>
                <a:cs typeface="Calibri" pitchFamily="34" charset="-120"/>
              </a:rPr>
              <a:t xml:space="preserve">  of the pool (30/210 papers)  →  </a:t>
            </a:r>
            <a:r>
              <a:rPr lang="en-US" sz="1500" b="1" dirty="0">
                <a:solidFill>
                  <a:srgbClr val="FFFFFF"/>
                </a:solidFill>
                <a:latin typeface="Calibri" pitchFamily="34" charset="0"/>
                <a:ea typeface="Calibri" pitchFamily="34" charset="-122"/>
                <a:cs typeface="Calibri" pitchFamily="34" charset="-120"/>
              </a:rPr>
              <a:t>45.7%</a:t>
            </a:r>
            <a:r>
              <a:rPr lang="en-US" sz="1200" dirty="0">
                <a:solidFill>
                  <a:srgbClr val="FFFFFF"/>
                </a:solidFill>
                <a:latin typeface="Calibri" pitchFamily="34" charset="0"/>
                <a:ea typeface="Calibri" pitchFamily="34" charset="-122"/>
                <a:cs typeface="Calibri" pitchFamily="34" charset="-120"/>
              </a:rPr>
              <a:t xml:space="preserve">  of all citations  (ratio 3.2:1)  ·  Top 27 globally most-cited papers are ALL seed papers  ·  First AI paper appears at rank 28</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Why Do Seed Papers Dominate? Two Compounding Mechanisms</a:t>
            </a:r>
            <a:endParaRPr lang="en-US" sz="2000" dirty="0"/>
          </a:p>
        </p:txBody>
      </p:sp>
      <p:sp>
        <p:nvSpPr>
          <p:cNvPr id="5" name="Shape 3"/>
          <p:cNvSpPr/>
          <p:nvPr/>
        </p:nvSpPr>
        <p:spPr>
          <a:xfrm>
            <a:off x="91440" y="804672"/>
            <a:ext cx="4343400" cy="416052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91440" y="804672"/>
            <a:ext cx="4343400" cy="411480"/>
          </a:xfrm>
          <a:prstGeom prst="rect">
            <a:avLst/>
          </a:prstGeom>
          <a:solidFill>
            <a:srgbClr val="0F1E33"/>
          </a:solidFill>
          <a:ln w="12700">
            <a:solidFill>
              <a:srgbClr val="0F1E33"/>
            </a:solidFill>
            <a:prstDash val="solid"/>
          </a:ln>
        </p:spPr>
        <p:txBody>
          <a:bodyPr/>
          <a:lstStyle/>
          <a:p>
            <a:endParaRPr lang="en-US"/>
          </a:p>
        </p:txBody>
      </p:sp>
      <p:sp>
        <p:nvSpPr>
          <p:cNvPr id="7" name="Text 5"/>
          <p:cNvSpPr/>
          <p:nvPr/>
        </p:nvSpPr>
        <p:spPr>
          <a:xfrm>
            <a:off x="164592" y="804672"/>
            <a:ext cx="4197096"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① First-Mover Structural Advantage</a:t>
            </a:r>
            <a:endParaRPr lang="en-US" sz="1300" dirty="0"/>
          </a:p>
        </p:txBody>
      </p:sp>
      <p:sp>
        <p:nvSpPr>
          <p:cNvPr id="8" name="Text 6"/>
          <p:cNvSpPr/>
          <p:nvPr/>
        </p:nvSpPr>
        <p:spPr>
          <a:xfrm>
            <a:off x="182880" y="1298448"/>
            <a:ext cx="4160520" cy="354787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Seed papers participate in all 6 generations of citation accrual. A paper added at Generation 3 can only be cited in Generations 3–5 (3 opportunities). A seed paper is cited across all 6.
</a:t>
            </a:r>
            <a:r>
              <a:rPr lang="en-US" sz="1200" b="1" dirty="0">
                <a:solidFill>
                  <a:srgbClr val="1E293B"/>
                </a:solidFill>
                <a:latin typeface="Calibri" pitchFamily="34" charset="0"/>
                <a:ea typeface="Calibri" pitchFamily="34" charset="-122"/>
                <a:cs typeface="Calibri" pitchFamily="34" charset="-120"/>
              </a:rPr>
              <a:t xml:space="preserve">Example:  </a:t>
            </a:r>
            <a:r>
              <a:rPr lang="en-US" sz="1200" dirty="0">
                <a:solidFill>
                  <a:srgbClr val="1E293B"/>
                </a:solidFill>
                <a:latin typeface="Calibri" pitchFamily="34" charset="0"/>
                <a:ea typeface="Calibri" pitchFamily="34" charset="-122"/>
                <a:cs typeface="Calibri" pitchFamily="34" charset="-120"/>
              </a:rPr>
              <a:t>A seed paper with a citation/exposure rate of 0.85 is shown in prompts for all 6 generations. A Gen 3 paper with the same rate has only half the opportunities.
This temporal structural advantage would produce some concentration even with perfectly uniform citation rates — but the model adds further preference on top of it.</a:t>
            </a:r>
            <a:endParaRPr lang="en-US" sz="1200" dirty="0"/>
          </a:p>
        </p:txBody>
      </p:sp>
      <p:sp>
        <p:nvSpPr>
          <p:cNvPr id="9" name="Shape 7"/>
          <p:cNvSpPr/>
          <p:nvPr/>
        </p:nvSpPr>
        <p:spPr>
          <a:xfrm>
            <a:off x="4709160" y="804672"/>
            <a:ext cx="4343400" cy="416052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0" name="Shape 8"/>
          <p:cNvSpPr/>
          <p:nvPr/>
        </p:nvSpPr>
        <p:spPr>
          <a:xfrm>
            <a:off x="4709160" y="804672"/>
            <a:ext cx="4343400" cy="411480"/>
          </a:xfrm>
          <a:prstGeom prst="rect">
            <a:avLst/>
          </a:prstGeom>
          <a:solidFill>
            <a:srgbClr val="EA580C"/>
          </a:solidFill>
          <a:ln w="12700">
            <a:solidFill>
              <a:srgbClr val="EA580C"/>
            </a:solidFill>
            <a:prstDash val="solid"/>
          </a:ln>
        </p:spPr>
        <p:txBody>
          <a:bodyPr/>
          <a:lstStyle/>
          <a:p>
            <a:endParaRPr lang="en-US"/>
          </a:p>
        </p:txBody>
      </p:sp>
      <p:sp>
        <p:nvSpPr>
          <p:cNvPr id="11" name="Text 9"/>
          <p:cNvSpPr/>
          <p:nvPr/>
        </p:nvSpPr>
        <p:spPr>
          <a:xfrm>
            <a:off x="4782312" y="804672"/>
            <a:ext cx="4197096"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② Real-Paper Quality Preference</a:t>
            </a:r>
            <a:endParaRPr lang="en-US" sz="1300" dirty="0"/>
          </a:p>
        </p:txBody>
      </p:sp>
      <p:sp>
        <p:nvSpPr>
          <p:cNvPr id="12" name="Text 10"/>
          <p:cNvSpPr/>
          <p:nvPr/>
        </p:nvSpPr>
        <p:spPr>
          <a:xfrm>
            <a:off x="4800600" y="1298448"/>
            <a:ext cx="4160520" cy="354787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Even controlling for exposure timing, seed papers are cited at significantly higher rates than generated papers:
</a:t>
            </a:r>
            <a:r>
              <a:rPr lang="en-US" sz="1200" b="1" dirty="0">
                <a:solidFill>
                  <a:srgbClr val="1E293B"/>
                </a:solidFill>
                <a:latin typeface="Calibri" pitchFamily="34" charset="0"/>
                <a:ea typeface="Calibri" pitchFamily="34" charset="-122"/>
                <a:cs typeface="Calibri" pitchFamily="34" charset="-120"/>
              </a:rPr>
              <a:t>Seeds:</a:t>
            </a:r>
            <a:r>
              <a:rPr lang="en-US" sz="1200" dirty="0">
                <a:solidFill>
                  <a:srgbClr val="1E293B"/>
                </a:solidFill>
                <a:latin typeface="Calibri" pitchFamily="34" charset="0"/>
                <a:ea typeface="Calibri" pitchFamily="34" charset="-122"/>
                <a:cs typeface="Calibri" pitchFamily="34" charset="-120"/>
              </a:rPr>
              <a:t xml:space="preserve">  0.85–0.93 citation/exposure rate
</a:t>
            </a:r>
            <a:r>
              <a:rPr lang="en-US" sz="1200" b="1" dirty="0">
                <a:solidFill>
                  <a:srgbClr val="1E293B"/>
                </a:solidFill>
                <a:latin typeface="Calibri" pitchFamily="34" charset="0"/>
                <a:ea typeface="Calibri" pitchFamily="34" charset="-122"/>
                <a:cs typeface="Calibri" pitchFamily="34" charset="-120"/>
              </a:rPr>
              <a:t>Generated:</a:t>
            </a:r>
            <a:r>
              <a:rPr lang="en-US" sz="1200" dirty="0">
                <a:solidFill>
                  <a:srgbClr val="1E293B"/>
                </a:solidFill>
                <a:latin typeface="Calibri" pitchFamily="34" charset="0"/>
                <a:ea typeface="Calibri" pitchFamily="34" charset="-122"/>
                <a:cs typeface="Calibri" pitchFamily="34" charset="-120"/>
              </a:rPr>
              <a:t xml:space="preserve">  0.70–0.75, declining in later generations
Several papers (N4P20, N2P27, N2P28) have rates near or at 0.0 — completely ignored despite being shown repeatedly.
</a:t>
            </a:r>
            <a:r>
              <a:rPr lang="en-US" sz="1200" b="1" dirty="0">
                <a:solidFill>
                  <a:srgbClr val="1E293B"/>
                </a:solidFill>
                <a:latin typeface="Calibri" pitchFamily="34" charset="0"/>
                <a:ea typeface="Calibri" pitchFamily="34" charset="-122"/>
                <a:cs typeface="Calibri" pitchFamily="34" charset="-120"/>
              </a:rPr>
              <a:t xml:space="preserve">Likely drivers: </a:t>
            </a:r>
            <a:r>
              <a:rPr lang="en-US" sz="1200" dirty="0">
                <a:solidFill>
                  <a:srgbClr val="1E293B"/>
                </a:solidFill>
                <a:latin typeface="Calibri" pitchFamily="34" charset="0"/>
                <a:ea typeface="Calibri" pitchFamily="34" charset="-122"/>
                <a:cs typeface="Calibri" pitchFamily="34" charset="-120"/>
              </a:rPr>
              <a:t>Real abstracts are more polished, have higher technical density, and use well-structured academic register. The LLM may treat these signals as proxies for citation-worthiness — independent of whether the paper is topically relevant.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Mechanism: Seeds Cited Near-Perfectly; Generated Papers Declining with Each Generation</a:t>
            </a:r>
            <a:endParaRPr lang="en-US" sz="2000" dirty="0"/>
          </a:p>
        </p:txBody>
      </p:sp>
      <p:pic>
        <p:nvPicPr>
          <p:cNvPr id="5" name="Image 0" descr="/sessions/eloquent-loving-dijkstra/mnt/alpha_0.2.0/output/analysis_figures/avg_citation_exposure_rate_by_node.png"/>
          <p:cNvPicPr>
            <a:picLocks noChangeAspect="1"/>
          </p:cNvPicPr>
          <p:nvPr/>
        </p:nvPicPr>
        <p:blipFill>
          <a:blip r:embed="rId3"/>
          <a:srcRect/>
          <a:stretch/>
        </p:blipFill>
        <p:spPr>
          <a:xfrm>
            <a:off x="91440" y="777240"/>
            <a:ext cx="4434840" cy="2651760"/>
          </a:xfrm>
          <a:prstGeom prst="rect">
            <a:avLst/>
          </a:prstGeom>
        </p:spPr>
      </p:pic>
      <p:pic>
        <p:nvPicPr>
          <p:cNvPr id="6" name="Image 1" descr="/sessions/eloquent-loving-dijkstra/mnt/alpha_0.2.0/output/additional_evidence/rate_by_origin.png"/>
          <p:cNvPicPr>
            <a:picLocks noChangeAspect="1"/>
          </p:cNvPicPr>
          <p:nvPr/>
        </p:nvPicPr>
        <p:blipFill>
          <a:blip r:embed="rId4"/>
          <a:srcRect/>
          <a:stretch/>
        </p:blipFill>
        <p:spPr>
          <a:xfrm>
            <a:off x="4617720" y="777240"/>
            <a:ext cx="4434840" cy="2651760"/>
          </a:xfrm>
          <a:prstGeom prst="rect">
            <a:avLst/>
          </a:prstGeom>
        </p:spPr>
      </p:pic>
      <p:sp>
        <p:nvSpPr>
          <p:cNvPr id="7" name="Shape 3"/>
          <p:cNvSpPr/>
          <p:nvPr/>
        </p:nvSpPr>
        <p:spPr>
          <a:xfrm>
            <a:off x="91440" y="3547872"/>
            <a:ext cx="4434840" cy="914400"/>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8" name="Text 4"/>
          <p:cNvSpPr/>
          <p:nvPr/>
        </p:nvSpPr>
        <p:spPr>
          <a:xfrm>
            <a:off x="182880" y="3593592"/>
            <a:ext cx="4251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Seeds: 0.85–0.93 citation rate</a:t>
            </a:r>
            <a:endParaRPr lang="en-US" sz="1300" dirty="0"/>
          </a:p>
        </p:txBody>
      </p:sp>
      <p:sp>
        <p:nvSpPr>
          <p:cNvPr id="9" name="Text 5"/>
          <p:cNvSpPr/>
          <p:nvPr/>
        </p:nvSpPr>
        <p:spPr>
          <a:xfrm>
            <a:off x="182880" y="3913632"/>
            <a:ext cx="425196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Shown any real paper and it is almost always cited. Rates remain stable across all six generations, confirming durable LLM preference.</a:t>
            </a:r>
            <a:endParaRPr lang="en-US" sz="1100" dirty="0"/>
          </a:p>
        </p:txBody>
      </p:sp>
      <p:sp>
        <p:nvSpPr>
          <p:cNvPr id="10" name="Shape 6"/>
          <p:cNvSpPr/>
          <p:nvPr/>
        </p:nvSpPr>
        <p:spPr>
          <a:xfrm>
            <a:off x="4617720" y="3547872"/>
            <a:ext cx="4434840" cy="914400"/>
          </a:xfrm>
          <a:prstGeom prst="rect">
            <a:avLst/>
          </a:prstGeom>
          <a:solidFill>
            <a:srgbClr val="0F1E33"/>
          </a:solidFill>
          <a:ln w="12700">
            <a:solidFill>
              <a:srgbClr val="0F1E33"/>
            </a:solidFill>
            <a:prstDash val="solid"/>
          </a:ln>
          <a:effectLst>
            <a:outerShdw blurRad="127000" dist="38100" dir="8100000" algn="bl" rotWithShape="0">
              <a:srgbClr val="000000">
                <a:alpha val="9000"/>
              </a:srgbClr>
            </a:outerShdw>
          </a:effectLst>
        </p:spPr>
        <p:txBody>
          <a:bodyPr/>
          <a:lstStyle/>
          <a:p>
            <a:endParaRPr lang="en-US"/>
          </a:p>
        </p:txBody>
      </p:sp>
      <p:sp>
        <p:nvSpPr>
          <p:cNvPr id="11" name="Text 7"/>
          <p:cNvSpPr/>
          <p:nvPr/>
        </p:nvSpPr>
        <p:spPr>
          <a:xfrm>
            <a:off x="4709160" y="3593592"/>
            <a:ext cx="4251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Generated papers: declining by generation of origin</a:t>
            </a:r>
            <a:endParaRPr lang="en-US" sz="1300" dirty="0"/>
          </a:p>
        </p:txBody>
      </p:sp>
      <p:sp>
        <p:nvSpPr>
          <p:cNvPr id="12" name="Text 8"/>
          <p:cNvSpPr/>
          <p:nvPr/>
        </p:nvSpPr>
        <p:spPr>
          <a:xfrm>
            <a:off x="4709160" y="3913632"/>
            <a:ext cx="4251960" cy="457200"/>
          </a:xfrm>
          <a:prstGeom prst="rect">
            <a:avLst/>
          </a:prstGeom>
          <a:noFill/>
          <a:ln/>
        </p:spPr>
        <p:txBody>
          <a:bodyPr wrap="square" lIns="0" tIns="0" rIns="0" bIns="0" rtlCol="0" anchor="ctr"/>
          <a:lstStyle/>
          <a:p>
            <a:pPr marL="0" indent="0">
              <a:buNone/>
            </a:pPr>
            <a:r>
              <a:rPr lang="en-US" sz="1100" dirty="0">
                <a:solidFill>
                  <a:srgbClr val="BAE6FD"/>
                </a:solidFill>
                <a:latin typeface="Calibri" pitchFamily="34" charset="0"/>
                <a:ea typeface="Calibri" pitchFamily="34" charset="-122"/>
                <a:cs typeface="Calibri" pitchFamily="34" charset="-120"/>
              </a:rPr>
              <a:t>Gen 0 papers cited at ~0.77; Gen 1 at ~0.70; Gen 2+ at ~0.66. N4P20: rate = 0.0. The gradient by origin generation reveals compounding discrimination.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4: Rich-Get-Richer — Cumulative Citations Predict Future Citations</a:t>
            </a:r>
            <a:endParaRPr lang="en-US" sz="2000" dirty="0"/>
          </a:p>
        </p:txBody>
      </p:sp>
      <p:pic>
        <p:nvPicPr>
          <p:cNvPr id="5" name="Image 0" descr="/sessions/eloquent-loving-dijkstra/mnt/alpha_0.2.0/output/additional_evidence/cumulative_advantage.png"/>
          <p:cNvPicPr>
            <a:picLocks noChangeAspect="1"/>
          </p:cNvPicPr>
          <p:nvPr/>
        </p:nvPicPr>
        <p:blipFill>
          <a:blip r:embed="rId3"/>
          <a:srcRect/>
          <a:stretch/>
        </p:blipFill>
        <p:spPr>
          <a:xfrm>
            <a:off x="548640" y="777240"/>
            <a:ext cx="8046720" cy="3520440"/>
          </a:xfrm>
          <a:prstGeom prst="rect">
            <a:avLst/>
          </a:prstGeom>
        </p:spPr>
      </p:pic>
      <p:sp>
        <p:nvSpPr>
          <p:cNvPr id="6" name="Text 3"/>
          <p:cNvSpPr/>
          <p:nvPr/>
        </p:nvSpPr>
        <p:spPr>
          <a:xfrm>
            <a:off x="137160" y="4416552"/>
            <a:ext cx="8915400" cy="502920"/>
          </a:xfrm>
          <a:prstGeom prst="rect">
            <a:avLst/>
          </a:prstGeom>
          <a:noFill/>
          <a:ln/>
        </p:spPr>
        <p:txBody>
          <a:bodyPr wrap="square" lIns="0" tIns="0" rIns="0" bIns="0" rtlCol="0" anchor="ctr"/>
          <a:lstStyle/>
          <a:p>
            <a:pPr marL="0" indent="0" algn="ctr">
              <a:buNone/>
            </a:pPr>
            <a:r>
              <a:rPr lang="en-US" sz="1150" b="1" dirty="0">
                <a:solidFill>
                  <a:srgbClr val="0891B2"/>
                </a:solidFill>
                <a:latin typeface="Calibri" pitchFamily="34" charset="0"/>
                <a:ea typeface="Calibri" pitchFamily="34" charset="-122"/>
                <a:cs typeface="Calibri" pitchFamily="34" charset="-120"/>
              </a:rPr>
              <a:t>Correlations r ≈ 0.97–0.996</a:t>
            </a:r>
            <a:r>
              <a:rPr lang="en-US" sz="1150" dirty="0">
                <a:solidFill>
                  <a:srgbClr val="475569"/>
                </a:solidFill>
                <a:latin typeface="Calibri" pitchFamily="34" charset="0"/>
                <a:ea typeface="Calibri" pitchFamily="34" charset="-122"/>
                <a:cs typeface="Calibri" pitchFamily="34" charset="-120"/>
              </a:rPr>
              <a:t xml:space="preserve"> between consecutive generations, approaching 1.0 as the distribution locks in. </a:t>
            </a:r>
            <a:r>
              <a:rPr lang="en-US" sz="1150" b="1" dirty="0">
                <a:solidFill>
                  <a:srgbClr val="475569"/>
                </a:solidFill>
                <a:latin typeface="Calibri" pitchFamily="34" charset="0"/>
                <a:ea typeface="Calibri" pitchFamily="34" charset="-122"/>
                <a:cs typeface="Calibri" pitchFamily="34" charset="-120"/>
              </a:rPr>
              <a:t>Seed papers (blue) cluster upper-right; generated papers (orange) cluster lower-left.</a:t>
            </a:r>
            <a:r>
              <a:rPr lang="en-US" sz="1150" dirty="0">
                <a:solidFill>
                  <a:srgbClr val="475569"/>
                </a:solidFill>
                <a:latin typeface="Calibri" pitchFamily="34" charset="0"/>
                <a:ea typeface="Calibri" pitchFamily="34" charset="-122"/>
                <a:cs typeface="Calibri" pitchFamily="34" charset="-120"/>
              </a:rPr>
              <a:t xml:space="preserve"> A paper that starts behind almost never catches up. Once excluded, always excluded.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5: Inverse Relationship — More Topically Relevant Papers Are Cited Less</a:t>
            </a:r>
            <a:endParaRPr lang="en-US" sz="2000" dirty="0"/>
          </a:p>
        </p:txBody>
      </p:sp>
      <p:pic>
        <p:nvPicPr>
          <p:cNvPr id="5" name="Image 0" descr="/sessions/eloquent-loving-dijkstra/mnt/alpha_0.2.0/output/additional_evidence/similarity_vs_citations.png"/>
          <p:cNvPicPr>
            <a:picLocks noChangeAspect="1"/>
          </p:cNvPicPr>
          <p:nvPr/>
        </p:nvPicPr>
        <p:blipFill>
          <a:blip r:embed="rId3"/>
          <a:srcRect/>
          <a:stretch/>
        </p:blipFill>
        <p:spPr>
          <a:xfrm>
            <a:off x="137160" y="777240"/>
            <a:ext cx="5120640" cy="3410712"/>
          </a:xfrm>
          <a:prstGeom prst="rect">
            <a:avLst/>
          </a:prstGeom>
        </p:spPr>
      </p:pic>
      <p:sp>
        <p:nvSpPr>
          <p:cNvPr id="6" name="Shape 3"/>
          <p:cNvSpPr/>
          <p:nvPr/>
        </p:nvSpPr>
        <p:spPr>
          <a:xfrm>
            <a:off x="5486400" y="868680"/>
            <a:ext cx="3520440" cy="1417320"/>
          </a:xfrm>
          <a:prstGeom prst="rect">
            <a:avLst/>
          </a:prstGeom>
          <a:solidFill>
            <a:srgbClr val="FFFFFF"/>
          </a:solidFill>
          <a:ln w="25400">
            <a:solidFill>
              <a:srgbClr val="EA580C"/>
            </a:solidFill>
            <a:prstDash val="solid"/>
          </a:ln>
          <a:effectLst>
            <a:outerShdw blurRad="127000" dist="38100" dir="8100000" algn="bl" rotWithShape="0">
              <a:srgbClr val="000000">
                <a:alpha val="9000"/>
              </a:srgbClr>
            </a:outerShdw>
          </a:effectLst>
        </p:spPr>
        <p:txBody>
          <a:bodyPr/>
          <a:lstStyle/>
          <a:p>
            <a:endParaRPr lang="en-US"/>
          </a:p>
        </p:txBody>
      </p:sp>
      <p:sp>
        <p:nvSpPr>
          <p:cNvPr id="7" name="Text 4"/>
          <p:cNvSpPr/>
          <p:nvPr/>
        </p:nvSpPr>
        <p:spPr>
          <a:xfrm>
            <a:off x="5486400" y="987552"/>
            <a:ext cx="3520440" cy="594360"/>
          </a:xfrm>
          <a:prstGeom prst="rect">
            <a:avLst/>
          </a:prstGeom>
          <a:noFill/>
          <a:ln/>
        </p:spPr>
        <p:txBody>
          <a:bodyPr wrap="square" lIns="0" tIns="0" rIns="0" bIns="0" rtlCol="0" anchor="ctr"/>
          <a:lstStyle/>
          <a:p>
            <a:pPr marL="0" indent="0" algn="ctr">
              <a:buNone/>
            </a:pPr>
            <a:r>
              <a:rPr lang="en-US" sz="2800" b="1" dirty="0">
                <a:solidFill>
                  <a:srgbClr val="EA580C"/>
                </a:solidFill>
                <a:latin typeface="Calibri" pitchFamily="34" charset="0"/>
                <a:ea typeface="Calibri" pitchFamily="34" charset="-122"/>
                <a:cs typeface="Calibri" pitchFamily="34" charset="-120"/>
              </a:rPr>
              <a:t>Pearson r = −0.693</a:t>
            </a:r>
            <a:endParaRPr lang="en-US" sz="2800" dirty="0"/>
          </a:p>
        </p:txBody>
      </p:sp>
      <p:sp>
        <p:nvSpPr>
          <p:cNvPr id="8" name="Text 5"/>
          <p:cNvSpPr/>
          <p:nvPr/>
        </p:nvSpPr>
        <p:spPr>
          <a:xfrm>
            <a:off x="5486400" y="1581912"/>
            <a:ext cx="352044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Semantic similarity vs. total citations</a:t>
            </a:r>
            <a:endParaRPr lang="en-US" sz="1100" dirty="0"/>
          </a:p>
        </p:txBody>
      </p:sp>
      <p:sp>
        <p:nvSpPr>
          <p:cNvPr id="9" name="Shape 6"/>
          <p:cNvSpPr/>
          <p:nvPr/>
        </p:nvSpPr>
        <p:spPr>
          <a:xfrm>
            <a:off x="5486400" y="2423160"/>
            <a:ext cx="3520440" cy="2331720"/>
          </a:xfrm>
          <a:prstGeom prst="rect">
            <a:avLst/>
          </a:prstGeom>
          <a:solidFill>
            <a:srgbClr val="0F1E33"/>
          </a:solidFill>
          <a:ln w="12700">
            <a:solidFill>
              <a:srgbClr val="0F1E33"/>
            </a:solidFill>
            <a:prstDash val="solid"/>
          </a:ln>
          <a:effectLst>
            <a:outerShdw blurRad="127000" dist="38100" dir="8100000" algn="bl" rotWithShape="0">
              <a:srgbClr val="000000">
                <a:alpha val="9000"/>
              </a:srgbClr>
            </a:outerShdw>
          </a:effectLst>
        </p:spPr>
        <p:txBody>
          <a:bodyPr/>
          <a:lstStyle/>
          <a:p>
            <a:endParaRPr lang="en-US"/>
          </a:p>
        </p:txBody>
      </p:sp>
      <p:sp>
        <p:nvSpPr>
          <p:cNvPr id="10" name="Text 7"/>
          <p:cNvSpPr/>
          <p:nvPr/>
        </p:nvSpPr>
        <p:spPr>
          <a:xfrm>
            <a:off x="5596128" y="2514600"/>
            <a:ext cx="3310128" cy="214884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If the model cited by relevance,</a:t>
            </a:r>
            <a:r>
              <a:rPr lang="en-US" sz="1150" dirty="0">
                <a:solidFill>
                  <a:srgbClr val="FFFFFF"/>
                </a:solidFill>
                <a:latin typeface="Calibri" pitchFamily="34" charset="0"/>
                <a:ea typeface="Calibri" pitchFamily="34" charset="-122"/>
                <a:cs typeface="Calibri" pitchFamily="34" charset="-120"/>
              </a:rPr>
              <a:t xml:space="preserve"> we would expect a positive correlation. Instead:
</a:t>
            </a:r>
            <a:r>
              <a:rPr lang="en-US" sz="1150" b="1" dirty="0">
                <a:solidFill>
                  <a:srgbClr val="FFFFFF"/>
                </a:solidFill>
                <a:latin typeface="Calibri" pitchFamily="34" charset="0"/>
                <a:ea typeface="Calibri" pitchFamily="34" charset="-122"/>
                <a:cs typeface="Calibri" pitchFamily="34" charset="-120"/>
              </a:rPr>
              <a:t>Seed papers</a:t>
            </a:r>
            <a:r>
              <a:rPr lang="en-US" sz="1150" dirty="0">
                <a:solidFill>
                  <a:srgbClr val="FFFFFF"/>
                </a:solidFill>
                <a:latin typeface="Calibri" pitchFamily="34" charset="0"/>
                <a:ea typeface="Calibri" pitchFamily="34" charset="-122"/>
                <a:cs typeface="Calibri" pitchFamily="34" charset="-120"/>
              </a:rPr>
              <a:t xml:space="preserve"> score lower semantic similarity to the topic (foundational concepts, broader scope) yet receive far more citations.
</a:t>
            </a:r>
            <a:r>
              <a:rPr lang="en-US" sz="1150" b="1" dirty="0">
                <a:solidFill>
                  <a:srgbClr val="FFFFFF"/>
                </a:solidFill>
                <a:latin typeface="Calibri" pitchFamily="34" charset="0"/>
                <a:ea typeface="Calibri" pitchFamily="34" charset="-122"/>
                <a:cs typeface="Calibri" pitchFamily="34" charset="-120"/>
              </a:rPr>
              <a:t>Generated papers</a:t>
            </a:r>
            <a:r>
              <a:rPr lang="en-US" sz="1150" dirty="0">
                <a:solidFill>
                  <a:srgbClr val="FFFFFF"/>
                </a:solidFill>
                <a:latin typeface="Calibri" pitchFamily="34" charset="0"/>
                <a:ea typeface="Calibri" pitchFamily="34" charset="-122"/>
                <a:cs typeface="Calibri" pitchFamily="34" charset="-120"/>
              </a:rPr>
              <a:t xml:space="preserve"> score higher similarity (directly on-topic) yet are cited less.
</a:t>
            </a:r>
            <a:r>
              <a:rPr lang="en-US" sz="1150" b="1" dirty="0">
                <a:solidFill>
                  <a:srgbClr val="BAE6FD"/>
                </a:solidFill>
                <a:latin typeface="Calibri" pitchFamily="34" charset="0"/>
                <a:ea typeface="Calibri" pitchFamily="34" charset="-122"/>
                <a:cs typeface="Calibri" pitchFamily="34" charset="-120"/>
              </a:rPr>
              <a:t xml:space="preserve">Conclusion: </a:t>
            </a:r>
            <a:r>
              <a:rPr lang="en-US" sz="1150" i="1" dirty="0">
                <a:solidFill>
                  <a:srgbClr val="BAE6FD"/>
                </a:solidFill>
                <a:latin typeface="Calibri" pitchFamily="34" charset="0"/>
                <a:ea typeface="Calibri" pitchFamily="34" charset="-122"/>
                <a:cs typeface="Calibri" pitchFamily="34" charset="-120"/>
              </a:rPr>
              <a:t>The LLM responds to abstract writing quality and academic register — not topical alignment.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6: A Growing Tail of Papers Is Completely Excluded from Citation</a:t>
            </a:r>
            <a:endParaRPr lang="en-US" sz="2000" dirty="0"/>
          </a:p>
        </p:txBody>
      </p:sp>
      <p:pic>
        <p:nvPicPr>
          <p:cNvPr id="5" name="Image 0" descr="/sessions/eloquent-loving-dijkstra/mnt/alpha_0.2.0/output/analysis_figures/exclusion_rate_by_node.png"/>
          <p:cNvPicPr>
            <a:picLocks noChangeAspect="1"/>
          </p:cNvPicPr>
          <p:nvPr/>
        </p:nvPicPr>
        <p:blipFill>
          <a:blip r:embed="rId3"/>
          <a:srcRect/>
          <a:stretch/>
        </p:blipFill>
        <p:spPr>
          <a:xfrm>
            <a:off x="91440" y="777240"/>
            <a:ext cx="5029200" cy="2514600"/>
          </a:xfrm>
          <a:prstGeom prst="rect">
            <a:avLst/>
          </a:prstGeom>
        </p:spPr>
      </p:pic>
      <p:sp>
        <p:nvSpPr>
          <p:cNvPr id="6" name="Shape 3"/>
          <p:cNvSpPr/>
          <p:nvPr/>
        </p:nvSpPr>
        <p:spPr>
          <a:xfrm>
            <a:off x="5257800" y="777240"/>
            <a:ext cx="1874520" cy="1828800"/>
          </a:xfrm>
          <a:prstGeom prst="rect">
            <a:avLst/>
          </a:prstGeom>
          <a:solidFill>
            <a:srgbClr val="EA580C"/>
          </a:solidFill>
          <a:ln w="12700">
            <a:solidFill>
              <a:srgbClr val="EA580C"/>
            </a:solidFill>
            <a:prstDash val="solid"/>
          </a:ln>
          <a:effectLst>
            <a:outerShdw blurRad="127000" dist="38100" dir="8100000" algn="bl" rotWithShape="0">
              <a:srgbClr val="000000">
                <a:alpha val="9000"/>
              </a:srgbClr>
            </a:outerShdw>
          </a:effectLst>
        </p:spPr>
        <p:txBody>
          <a:bodyPr/>
          <a:lstStyle/>
          <a:p>
            <a:endParaRPr lang="en-US"/>
          </a:p>
        </p:txBody>
      </p:sp>
      <p:sp>
        <p:nvSpPr>
          <p:cNvPr id="7" name="Text 4"/>
          <p:cNvSpPr/>
          <p:nvPr/>
        </p:nvSpPr>
        <p:spPr>
          <a:xfrm>
            <a:off x="5257800" y="868680"/>
            <a:ext cx="1874520" cy="1060704"/>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10</a:t>
            </a:r>
            <a:endParaRPr lang="en-US" sz="3000" dirty="0"/>
          </a:p>
        </p:txBody>
      </p:sp>
      <p:sp>
        <p:nvSpPr>
          <p:cNvPr id="8" name="Text 5"/>
          <p:cNvSpPr/>
          <p:nvPr/>
        </p:nvSpPr>
        <p:spPr>
          <a:xfrm>
            <a:off x="5257800" y="1837944"/>
            <a:ext cx="1874520" cy="65836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Papers never cited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 Gen 5 (5.6%)</a:t>
            </a:r>
            <a:endParaRPr lang="en-US" sz="1100" dirty="0"/>
          </a:p>
        </p:txBody>
      </p:sp>
      <p:sp>
        <p:nvSpPr>
          <p:cNvPr id="9" name="Shape 6"/>
          <p:cNvSpPr/>
          <p:nvPr/>
        </p:nvSpPr>
        <p:spPr>
          <a:xfrm>
            <a:off x="7178040" y="777240"/>
            <a:ext cx="1828800" cy="1828800"/>
          </a:xfrm>
          <a:prstGeom prst="rect">
            <a:avLst/>
          </a:prstGeom>
          <a:solidFill>
            <a:srgbClr val="0891B2"/>
          </a:solidFill>
          <a:ln w="12700">
            <a:solidFill>
              <a:srgbClr val="0891B2"/>
            </a:solidFill>
            <a:prstDash val="solid"/>
          </a:ln>
          <a:effectLst>
            <a:outerShdw blurRad="127000" dist="38100" dir="8100000" algn="bl" rotWithShape="0">
              <a:srgbClr val="000000">
                <a:alpha val="9000"/>
              </a:srgbClr>
            </a:outerShdw>
          </a:effectLst>
        </p:spPr>
        <p:txBody>
          <a:bodyPr/>
          <a:lstStyle/>
          <a:p>
            <a:endParaRPr lang="en-US"/>
          </a:p>
        </p:txBody>
      </p:sp>
      <p:sp>
        <p:nvSpPr>
          <p:cNvPr id="10" name="Text 7"/>
          <p:cNvSpPr/>
          <p:nvPr/>
        </p:nvSpPr>
        <p:spPr>
          <a:xfrm>
            <a:off x="7178040" y="868680"/>
            <a:ext cx="1828800" cy="1060704"/>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0</a:t>
            </a:r>
            <a:endParaRPr lang="en-US" sz="3000" dirty="0"/>
          </a:p>
        </p:txBody>
      </p:sp>
      <p:sp>
        <p:nvSpPr>
          <p:cNvPr id="11" name="Text 8"/>
          <p:cNvSpPr/>
          <p:nvPr/>
        </p:nvSpPr>
        <p:spPr>
          <a:xfrm>
            <a:off x="7178040" y="1837944"/>
            <a:ext cx="1828800" cy="65836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Uncited in</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Gens 0, 1, 2</a:t>
            </a:r>
            <a:endParaRPr lang="en-US" sz="1100" dirty="0"/>
          </a:p>
        </p:txBody>
      </p:sp>
      <p:sp>
        <p:nvSpPr>
          <p:cNvPr id="12" name="Shape 9"/>
          <p:cNvSpPr/>
          <p:nvPr/>
        </p:nvSpPr>
        <p:spPr>
          <a:xfrm>
            <a:off x="91440" y="3383280"/>
            <a:ext cx="8915400" cy="148132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3" name="Shape 10"/>
          <p:cNvSpPr/>
          <p:nvPr/>
        </p:nvSpPr>
        <p:spPr>
          <a:xfrm>
            <a:off x="91440" y="3383280"/>
            <a:ext cx="54864" cy="1481328"/>
          </a:xfrm>
          <a:prstGeom prst="rect">
            <a:avLst/>
          </a:prstGeom>
          <a:solidFill>
            <a:srgbClr val="EA580C"/>
          </a:solidFill>
          <a:ln w="12700">
            <a:solidFill>
              <a:srgbClr val="EA580C"/>
            </a:solidFill>
            <a:prstDash val="solid"/>
          </a:ln>
        </p:spPr>
        <p:txBody>
          <a:bodyPr/>
          <a:lstStyle/>
          <a:p>
            <a:endParaRPr lang="en-US"/>
          </a:p>
        </p:txBody>
      </p:sp>
      <p:sp>
        <p:nvSpPr>
          <p:cNvPr id="14" name="Text 11"/>
          <p:cNvSpPr/>
          <p:nvPr/>
        </p:nvSpPr>
        <p:spPr>
          <a:xfrm>
            <a:off x="201168" y="3447288"/>
            <a:ext cx="86868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Exclusion progression:</a:t>
            </a:r>
            <a:endParaRPr lang="en-US" sz="1200" dirty="0"/>
          </a:p>
        </p:txBody>
      </p:sp>
      <p:sp>
        <p:nvSpPr>
          <p:cNvPr id="15" name="Text 12"/>
          <p:cNvSpPr/>
          <p:nvPr/>
        </p:nvSpPr>
        <p:spPr>
          <a:xfrm>
            <a:off x="201168" y="3767328"/>
            <a:ext cx="8686800" cy="1024128"/>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xml:space="preserve">Gen 0–2: 0 uncited  ·  Gen 3: 4 papers (3.3%)  ·  Gen 4: 2 papers (1.3%)  ·  Gen 5: 10 papers (5.6%)  —  a notable acceleration.
These 10 papers were not merely under-cited — they were </a:t>
            </a:r>
            <a:r>
              <a:rPr lang="en-US" sz="1150" b="1" dirty="0">
                <a:solidFill>
                  <a:srgbClr val="475569"/>
                </a:solidFill>
                <a:latin typeface="Calibri" pitchFamily="34" charset="0"/>
                <a:ea typeface="Calibri" pitchFamily="34" charset="-122"/>
                <a:cs typeface="Calibri" pitchFamily="34" charset="-120"/>
              </a:rPr>
              <a:t>never cited despite appearing in multiple context windows.</a:t>
            </a:r>
            <a:r>
              <a:rPr lang="en-US" sz="1150" dirty="0">
                <a:solidFill>
                  <a:srgbClr val="475569"/>
                </a:solidFill>
                <a:latin typeface="Calibri" pitchFamily="34" charset="0"/>
                <a:ea typeface="Calibri" pitchFamily="34" charset="-122"/>
                <a:cs typeface="Calibri" pitchFamily="34" charset="-120"/>
              </a:rPr>
              <a:t xml:space="preserve"> This indicates active discrimination, not sampling unluck. The model consistently refuses to cite them even when they are placed directly in front of it. As the pool grows to 180 papers and only 30 are shown per context, a subset of papers falls permanently below the model's attention threshold.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Finding 7: Near-Zero Hallucinations — Inequality Reflects Genuine LLM Selection</a:t>
            </a:r>
            <a:endParaRPr lang="en-US" sz="2000" dirty="0"/>
          </a:p>
        </p:txBody>
      </p:sp>
      <p:pic>
        <p:nvPicPr>
          <p:cNvPr id="5" name="Image 0" descr="/sessions/eloquent-loving-dijkstra/mnt/alpha_0.2.0/output/analysis_figures/citation_verification_table.png"/>
          <p:cNvPicPr>
            <a:picLocks noChangeAspect="1"/>
          </p:cNvPicPr>
          <p:nvPr/>
        </p:nvPicPr>
        <p:blipFill>
          <a:blip r:embed="rId3"/>
          <a:srcRect/>
          <a:stretch/>
        </p:blipFill>
        <p:spPr>
          <a:xfrm>
            <a:off x="777240" y="804672"/>
            <a:ext cx="7589520" cy="2459736"/>
          </a:xfrm>
          <a:prstGeom prst="rect">
            <a:avLst/>
          </a:prstGeom>
        </p:spPr>
      </p:pic>
      <p:sp>
        <p:nvSpPr>
          <p:cNvPr id="6" name="Shape 3"/>
          <p:cNvSpPr/>
          <p:nvPr/>
        </p:nvSpPr>
        <p:spPr>
          <a:xfrm>
            <a:off x="91440" y="3383280"/>
            <a:ext cx="8915400" cy="1508760"/>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7" name="Shape 4"/>
          <p:cNvSpPr/>
          <p:nvPr/>
        </p:nvSpPr>
        <p:spPr>
          <a:xfrm>
            <a:off x="91440" y="3383280"/>
            <a:ext cx="54864" cy="1508760"/>
          </a:xfrm>
          <a:prstGeom prst="rect">
            <a:avLst/>
          </a:prstGeom>
          <a:solidFill>
            <a:srgbClr val="0891B2"/>
          </a:solidFill>
          <a:ln w="12700">
            <a:solidFill>
              <a:srgbClr val="0891B2"/>
            </a:solidFill>
            <a:prstDash val="solid"/>
          </a:ln>
        </p:spPr>
        <p:txBody>
          <a:bodyPr/>
          <a:lstStyle/>
          <a:p>
            <a:endParaRPr lang="en-US"/>
          </a:p>
        </p:txBody>
      </p:sp>
      <p:sp>
        <p:nvSpPr>
          <p:cNvPr id="8" name="Text 5"/>
          <p:cNvSpPr/>
          <p:nvPr/>
        </p:nvSpPr>
        <p:spPr>
          <a:xfrm>
            <a:off x="201168" y="3456432"/>
            <a:ext cx="8686800" cy="1353312"/>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Only 7 citations out of ~4,255 total were hallucinated (</a:t>
            </a:r>
            <a:r>
              <a:rPr lang="en-US" sz="1200" b="1" dirty="0">
                <a:solidFill>
                  <a:srgbClr val="0891B2"/>
                </a:solidFill>
                <a:latin typeface="Calibri" pitchFamily="34" charset="0"/>
                <a:ea typeface="Calibri" pitchFamily="34" charset="-122"/>
                <a:cs typeface="Calibri" pitchFamily="34" charset="-120"/>
              </a:rPr>
              <a:t>0.16%</a:t>
            </a:r>
            <a:r>
              <a:rPr lang="en-US" sz="1200" dirty="0">
                <a:solidFill>
                  <a:srgbClr val="475569"/>
                </a:solidFill>
                <a:latin typeface="Calibri" pitchFamily="34" charset="0"/>
                <a:ea typeface="Calibri" pitchFamily="34" charset="-122"/>
                <a:cs typeface="Calibri" pitchFamily="34" charset="-120"/>
              </a:rPr>
              <a:t xml:space="preserve">). This extremely low rate is essential: it confirms that the inequality patterns are </a:t>
            </a:r>
            <a:r>
              <a:rPr lang="en-US" sz="1200" b="1" dirty="0">
                <a:solidFill>
                  <a:srgbClr val="475569"/>
                </a:solidFill>
                <a:latin typeface="Calibri" pitchFamily="34" charset="0"/>
                <a:ea typeface="Calibri" pitchFamily="34" charset="-122"/>
                <a:cs typeface="Calibri" pitchFamily="34" charset="-120"/>
              </a:rPr>
              <a:t>not noise or confabulation artifacts.</a:t>
            </a:r>
            <a:r>
              <a:rPr lang="en-US" sz="1200" dirty="0">
                <a:solidFill>
                  <a:srgbClr val="475569"/>
                </a:solidFill>
                <a:latin typeface="Calibri" pitchFamily="34" charset="0"/>
                <a:ea typeface="Calibri" pitchFamily="34" charset="-122"/>
                <a:cs typeface="Calibri" pitchFamily="34" charset="-120"/>
              </a:rPr>
              <a:t xml:space="preserve"> When the model omits a paper, it is not 'forgetting' or inventing alternatives — it is </a:t>
            </a:r>
            <a:r>
              <a:rPr lang="en-US" sz="1200" b="1" dirty="0">
                <a:solidFill>
                  <a:srgbClr val="475569"/>
                </a:solidFill>
                <a:latin typeface="Calibri" pitchFamily="34" charset="0"/>
                <a:ea typeface="Calibri" pitchFamily="34" charset="-122"/>
                <a:cs typeface="Calibri" pitchFamily="34" charset="-120"/>
              </a:rPr>
              <a:t>actively choosing not to cite it</a:t>
            </a:r>
            <a:r>
              <a:rPr lang="en-US" sz="1200" dirty="0">
                <a:solidFill>
                  <a:srgbClr val="475569"/>
                </a:solidFill>
                <a:latin typeface="Calibri" pitchFamily="34" charset="0"/>
                <a:ea typeface="Calibri" pitchFamily="34" charset="-122"/>
                <a:cs typeface="Calibri" pitchFamily="34" charset="-120"/>
              </a:rPr>
              <a:t xml:space="preserve"> from among the papers placed directly in front of it.
All citation behavior in this experiment therefore reflects real, reproducible LLM selection preferences that compound across generations.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E33"/>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228600" y="164592"/>
            <a:ext cx="8686800" cy="566928"/>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Shape 2"/>
          <p:cNvSpPr/>
          <p:nvPr/>
        </p:nvSpPr>
        <p:spPr>
          <a:xfrm>
            <a:off x="228600" y="804672"/>
            <a:ext cx="6400800" cy="0"/>
          </a:xfrm>
          <a:prstGeom prst="line">
            <a:avLst/>
          </a:prstGeom>
          <a:noFill/>
          <a:ln w="25400">
            <a:solidFill>
              <a:srgbClr val="0891B2"/>
            </a:solidFill>
            <a:prstDash val="solid"/>
          </a:ln>
        </p:spPr>
        <p:txBody>
          <a:bodyPr/>
          <a:lstStyle/>
          <a:p>
            <a:endParaRPr lang="en-US"/>
          </a:p>
        </p:txBody>
      </p:sp>
      <p:sp>
        <p:nvSpPr>
          <p:cNvPr id="5" name="Shape 3"/>
          <p:cNvSpPr/>
          <p:nvPr/>
        </p:nvSpPr>
        <p:spPr>
          <a:xfrm>
            <a:off x="201168" y="932688"/>
            <a:ext cx="54864" cy="1170432"/>
          </a:xfrm>
          <a:prstGeom prst="rect">
            <a:avLst/>
          </a:prstGeom>
          <a:solidFill>
            <a:srgbClr val="0891B2"/>
          </a:solidFill>
          <a:ln w="12700">
            <a:solidFill>
              <a:srgbClr val="0891B2"/>
            </a:solidFill>
            <a:prstDash val="solid"/>
          </a:ln>
        </p:spPr>
        <p:txBody>
          <a:bodyPr/>
          <a:lstStyle/>
          <a:p>
            <a:endParaRPr lang="en-US"/>
          </a:p>
        </p:txBody>
      </p:sp>
      <p:sp>
        <p:nvSpPr>
          <p:cNvPr id="6" name="Shape 4"/>
          <p:cNvSpPr/>
          <p:nvPr/>
        </p:nvSpPr>
        <p:spPr>
          <a:xfrm>
            <a:off x="292608" y="932688"/>
            <a:ext cx="8641080" cy="1170432"/>
          </a:xfrm>
          <a:prstGeom prst="rect">
            <a:avLst/>
          </a:prstGeom>
          <a:solidFill>
            <a:srgbClr val="1A2E4A"/>
          </a:solidFill>
          <a:ln w="12700">
            <a:solidFill>
              <a:srgbClr val="1A2E4A"/>
            </a:solidFill>
            <a:prstDash val="solid"/>
          </a:ln>
        </p:spPr>
        <p:txBody>
          <a:bodyPr/>
          <a:lstStyle/>
          <a:p>
            <a:endParaRPr lang="en-US"/>
          </a:p>
        </p:txBody>
      </p:sp>
      <p:sp>
        <p:nvSpPr>
          <p:cNvPr id="7" name="Text 5"/>
          <p:cNvSpPr/>
          <p:nvPr/>
        </p:nvSpPr>
        <p:spPr>
          <a:xfrm>
            <a:off x="438912" y="1024128"/>
            <a:ext cx="83667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Inequality compounds significantly across generations</a:t>
            </a:r>
            <a:endParaRPr lang="en-US" sz="1350" dirty="0"/>
          </a:p>
        </p:txBody>
      </p:sp>
      <p:sp>
        <p:nvSpPr>
          <p:cNvPr id="8" name="Text 6"/>
          <p:cNvSpPr/>
          <p:nvPr/>
        </p:nvSpPr>
        <p:spPr>
          <a:xfrm>
            <a:off x="438912" y="1371600"/>
            <a:ext cx="8366760" cy="65836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Gini triples (0.106 → 0.321) across 6 generations, exceeding both random and semantic-relevance baselines at every step. The progression is monotonic, pointing to a stable and persistent mechanism.</a:t>
            </a:r>
            <a:endParaRPr lang="en-US" sz="1200" dirty="0"/>
          </a:p>
        </p:txBody>
      </p:sp>
      <p:sp>
        <p:nvSpPr>
          <p:cNvPr id="9" name="Shape 7"/>
          <p:cNvSpPr/>
          <p:nvPr/>
        </p:nvSpPr>
        <p:spPr>
          <a:xfrm>
            <a:off x="201168" y="2258568"/>
            <a:ext cx="54864" cy="1170432"/>
          </a:xfrm>
          <a:prstGeom prst="rect">
            <a:avLst/>
          </a:prstGeom>
          <a:solidFill>
            <a:srgbClr val="EA580C"/>
          </a:solidFill>
          <a:ln w="12700">
            <a:solidFill>
              <a:srgbClr val="EA580C"/>
            </a:solidFill>
            <a:prstDash val="solid"/>
          </a:ln>
        </p:spPr>
        <p:txBody>
          <a:bodyPr/>
          <a:lstStyle/>
          <a:p>
            <a:endParaRPr lang="en-US"/>
          </a:p>
        </p:txBody>
      </p:sp>
      <p:sp>
        <p:nvSpPr>
          <p:cNvPr id="10" name="Shape 8"/>
          <p:cNvSpPr/>
          <p:nvPr/>
        </p:nvSpPr>
        <p:spPr>
          <a:xfrm>
            <a:off x="292608" y="2258568"/>
            <a:ext cx="8641080" cy="1170432"/>
          </a:xfrm>
          <a:prstGeom prst="rect">
            <a:avLst/>
          </a:prstGeom>
          <a:solidFill>
            <a:srgbClr val="1A2E4A"/>
          </a:solidFill>
          <a:ln w="12700">
            <a:solidFill>
              <a:srgbClr val="1A2E4A"/>
            </a:solidFill>
            <a:prstDash val="solid"/>
          </a:ln>
        </p:spPr>
        <p:txBody>
          <a:bodyPr/>
          <a:lstStyle/>
          <a:p>
            <a:endParaRPr lang="en-US"/>
          </a:p>
        </p:txBody>
      </p:sp>
      <p:sp>
        <p:nvSpPr>
          <p:cNvPr id="11" name="Text 9"/>
          <p:cNvSpPr/>
          <p:nvPr/>
        </p:nvSpPr>
        <p:spPr>
          <a:xfrm>
            <a:off x="438912" y="2350008"/>
            <a:ext cx="83667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The driver is LLM preference for 'real-looking' papers, not relevance</a:t>
            </a:r>
            <a:endParaRPr lang="en-US" sz="1350" dirty="0"/>
          </a:p>
        </p:txBody>
      </p:sp>
      <p:sp>
        <p:nvSpPr>
          <p:cNvPr id="12" name="Text 10"/>
          <p:cNvSpPr/>
          <p:nvPr/>
        </p:nvSpPr>
        <p:spPr>
          <a:xfrm>
            <a:off x="438912" y="2697480"/>
            <a:ext cx="8366760" cy="65836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Seeds are cited at 85–93% rates vs. declining rates for generated papers. The preference correlates inversely with semantic similarity (r = −0.693), ruling out topic relevance as the cause. Writing quality and abstract polish appear to be the key signals.</a:t>
            </a:r>
            <a:endParaRPr lang="en-US" sz="1200" dirty="0"/>
          </a:p>
        </p:txBody>
      </p:sp>
      <p:sp>
        <p:nvSpPr>
          <p:cNvPr id="13" name="Shape 11"/>
          <p:cNvSpPr/>
          <p:nvPr/>
        </p:nvSpPr>
        <p:spPr>
          <a:xfrm>
            <a:off x="201168" y="3584448"/>
            <a:ext cx="54864" cy="1170432"/>
          </a:xfrm>
          <a:prstGeom prst="rect">
            <a:avLst/>
          </a:prstGeom>
          <a:solidFill>
            <a:srgbClr val="4F46E5"/>
          </a:solidFill>
          <a:ln w="12700">
            <a:solidFill>
              <a:srgbClr val="4F46E5"/>
            </a:solidFill>
            <a:prstDash val="solid"/>
          </a:ln>
        </p:spPr>
        <p:txBody>
          <a:bodyPr/>
          <a:lstStyle/>
          <a:p>
            <a:endParaRPr lang="en-US"/>
          </a:p>
        </p:txBody>
      </p:sp>
      <p:sp>
        <p:nvSpPr>
          <p:cNvPr id="14" name="Shape 12"/>
          <p:cNvSpPr/>
          <p:nvPr/>
        </p:nvSpPr>
        <p:spPr>
          <a:xfrm>
            <a:off x="292608" y="3584448"/>
            <a:ext cx="8641080" cy="1170432"/>
          </a:xfrm>
          <a:prstGeom prst="rect">
            <a:avLst/>
          </a:prstGeom>
          <a:solidFill>
            <a:srgbClr val="1A2E4A"/>
          </a:solidFill>
          <a:ln w="12700">
            <a:solidFill>
              <a:srgbClr val="1A2E4A"/>
            </a:solidFill>
            <a:prstDash val="solid"/>
          </a:ln>
        </p:spPr>
        <p:txBody>
          <a:bodyPr/>
          <a:lstStyle/>
          <a:p>
            <a:endParaRPr lang="en-US"/>
          </a:p>
        </p:txBody>
      </p:sp>
      <p:sp>
        <p:nvSpPr>
          <p:cNvPr id="15" name="Text 13"/>
          <p:cNvSpPr/>
          <p:nvPr/>
        </p:nvSpPr>
        <p:spPr>
          <a:xfrm>
            <a:off x="438912" y="3675888"/>
            <a:ext cx="83667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Implication: A New, Machine-Driven Matthew Effect in Science</a:t>
            </a:r>
            <a:endParaRPr lang="en-US" sz="1350" dirty="0"/>
          </a:p>
        </p:txBody>
      </p:sp>
      <p:sp>
        <p:nvSpPr>
          <p:cNvPr id="16" name="Text 14"/>
          <p:cNvSpPr/>
          <p:nvPr/>
        </p:nvSpPr>
        <p:spPr>
          <a:xfrm>
            <a:off x="438912" y="4023360"/>
            <a:ext cx="8366760" cy="65836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LLMs assisting literature review may systematically amplify citation concentration — not through human prestige biases, but through latent quality-signal preferences. A growing tail of papers (10 uncited by Gen 5) falls permanently below the model's attention threshold.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Methodology — Paper Structure &amp; Data Collection</a:t>
            </a:r>
            <a:endParaRPr lang="en-US" sz="2000" dirty="0"/>
          </a:p>
        </p:txBody>
      </p:sp>
      <p:sp>
        <p:nvSpPr>
          <p:cNvPr id="5" name="Shape 3"/>
          <p:cNvSpPr/>
          <p:nvPr/>
        </p:nvSpPr>
        <p:spPr>
          <a:xfrm>
            <a:off x="91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91440" y="804672"/>
            <a:ext cx="54864" cy="1298448"/>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219456" y="896112"/>
            <a:ext cx="1554480" cy="246888"/>
          </a:xfrm>
          <a:prstGeom prst="rect">
            <a:avLst/>
          </a:prstGeom>
          <a:solidFill>
            <a:srgbClr val="0891B2"/>
          </a:solidFill>
          <a:ln w="12700">
            <a:solidFill>
              <a:srgbClr val="0891B2"/>
            </a:solidFill>
            <a:prstDash val="solid"/>
          </a:ln>
        </p:spPr>
        <p:txBody>
          <a:bodyPr/>
          <a:lstStyle/>
          <a:p>
            <a:endParaRPr lang="en-US"/>
          </a:p>
        </p:txBody>
      </p:sp>
      <p:sp>
        <p:nvSpPr>
          <p:cNvPr id="8" name="Text 6"/>
          <p:cNvSpPr/>
          <p:nvPr/>
        </p:nvSpPr>
        <p:spPr>
          <a:xfrm>
            <a:off x="219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PAPER INPUT</a:t>
            </a:r>
            <a:endParaRPr lang="en-US" sz="850" dirty="0"/>
          </a:p>
        </p:txBody>
      </p:sp>
      <p:sp>
        <p:nvSpPr>
          <p:cNvPr id="9" name="Text 7"/>
          <p:cNvSpPr/>
          <p:nvPr/>
        </p:nvSpPr>
        <p:spPr>
          <a:xfrm>
            <a:off x="237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Exposed Paper Fields</a:t>
            </a:r>
            <a:endParaRPr lang="en-US" sz="1200" dirty="0"/>
          </a:p>
        </p:txBody>
      </p:sp>
      <p:sp>
        <p:nvSpPr>
          <p:cNvPr id="10" name="Text 8"/>
          <p:cNvSpPr/>
          <p:nvPr/>
        </p:nvSpPr>
        <p:spPr>
          <a:xfrm>
            <a:off x="237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Each paper shown to the LLM contains only: title, abstract, body text, and author name. No metadata like citation counts, journal, or publication venue.</a:t>
            </a:r>
            <a:endParaRPr lang="en-US" sz="1100" dirty="0"/>
          </a:p>
        </p:txBody>
      </p:sp>
      <p:sp>
        <p:nvSpPr>
          <p:cNvPr id="11" name="Shape 9"/>
          <p:cNvSpPr/>
          <p:nvPr/>
        </p:nvSpPr>
        <p:spPr>
          <a:xfrm>
            <a:off x="4663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2" name="Shape 10"/>
          <p:cNvSpPr/>
          <p:nvPr/>
        </p:nvSpPr>
        <p:spPr>
          <a:xfrm>
            <a:off x="4663440" y="804672"/>
            <a:ext cx="54864" cy="1298448"/>
          </a:xfrm>
          <a:prstGeom prst="rect">
            <a:avLst/>
          </a:prstGeom>
          <a:solidFill>
            <a:srgbClr val="EA580C"/>
          </a:solidFill>
          <a:ln w="12700">
            <a:solidFill>
              <a:srgbClr val="EA580C"/>
            </a:solidFill>
            <a:prstDash val="solid"/>
          </a:ln>
        </p:spPr>
        <p:txBody>
          <a:bodyPr/>
          <a:lstStyle/>
          <a:p>
            <a:endParaRPr lang="en-US"/>
          </a:p>
        </p:txBody>
      </p:sp>
      <p:sp>
        <p:nvSpPr>
          <p:cNvPr id="13" name="Shape 11"/>
          <p:cNvSpPr/>
          <p:nvPr/>
        </p:nvSpPr>
        <p:spPr>
          <a:xfrm>
            <a:off x="4791456" y="896112"/>
            <a:ext cx="1554480" cy="246888"/>
          </a:xfrm>
          <a:prstGeom prst="rect">
            <a:avLst/>
          </a:prstGeom>
          <a:solidFill>
            <a:srgbClr val="EA580C"/>
          </a:solidFill>
          <a:ln w="12700">
            <a:solidFill>
              <a:srgbClr val="EA580C"/>
            </a:solidFill>
            <a:prstDash val="solid"/>
          </a:ln>
        </p:spPr>
        <p:txBody>
          <a:bodyPr/>
          <a:lstStyle/>
          <a:p>
            <a:endParaRPr lang="en-US"/>
          </a:p>
        </p:txBody>
      </p:sp>
      <p:sp>
        <p:nvSpPr>
          <p:cNvPr id="14" name="Text 12"/>
          <p:cNvSpPr/>
          <p:nvPr/>
        </p:nvSpPr>
        <p:spPr>
          <a:xfrm>
            <a:off x="4791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15" name="Text 13"/>
          <p:cNvSpPr/>
          <p:nvPr/>
        </p:nvSpPr>
        <p:spPr>
          <a:xfrm>
            <a:off x="4809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Generated Paper Types</a:t>
            </a:r>
            <a:endParaRPr lang="en-US" sz="1200" dirty="0"/>
          </a:p>
        </p:txBody>
      </p:sp>
      <p:sp>
        <p:nvSpPr>
          <p:cNvPr id="16" name="Text 14"/>
          <p:cNvSpPr/>
          <p:nvPr/>
        </p:nvSpPr>
        <p:spPr>
          <a:xfrm>
            <a:off x="4809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 LLM produces literature reviews and position papers. All inline citations appear in the generated text body, mirroring how the seed papers were structured.</a:t>
            </a:r>
            <a:endParaRPr lang="en-US" sz="1100" dirty="0"/>
          </a:p>
        </p:txBody>
      </p:sp>
      <p:sp>
        <p:nvSpPr>
          <p:cNvPr id="17" name="Shape 15"/>
          <p:cNvSpPr/>
          <p:nvPr/>
        </p:nvSpPr>
        <p:spPr>
          <a:xfrm>
            <a:off x="91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8" name="Shape 16"/>
          <p:cNvSpPr/>
          <p:nvPr/>
        </p:nvSpPr>
        <p:spPr>
          <a:xfrm>
            <a:off x="91440" y="2194560"/>
            <a:ext cx="54864" cy="1298448"/>
          </a:xfrm>
          <a:prstGeom prst="rect">
            <a:avLst/>
          </a:prstGeom>
          <a:solidFill>
            <a:srgbClr val="4F46E5"/>
          </a:solidFill>
          <a:ln w="12700">
            <a:solidFill>
              <a:srgbClr val="4F46E5"/>
            </a:solidFill>
            <a:prstDash val="solid"/>
          </a:ln>
        </p:spPr>
        <p:txBody>
          <a:bodyPr/>
          <a:lstStyle/>
          <a:p>
            <a:endParaRPr lang="en-US"/>
          </a:p>
        </p:txBody>
      </p:sp>
      <p:sp>
        <p:nvSpPr>
          <p:cNvPr id="19" name="Shape 17"/>
          <p:cNvSpPr/>
          <p:nvPr/>
        </p:nvSpPr>
        <p:spPr>
          <a:xfrm>
            <a:off x="219456" y="2286000"/>
            <a:ext cx="1554480" cy="24688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219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CONSISTENCY</a:t>
            </a:r>
            <a:endParaRPr lang="en-US" sz="850" dirty="0"/>
          </a:p>
        </p:txBody>
      </p:sp>
      <p:sp>
        <p:nvSpPr>
          <p:cNvPr id="21" name="Text 19"/>
          <p:cNvSpPr/>
          <p:nvPr/>
        </p:nvSpPr>
        <p:spPr>
          <a:xfrm>
            <a:off x="237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Input Standardization</a:t>
            </a:r>
            <a:endParaRPr lang="en-US" sz="1200" dirty="0"/>
          </a:p>
        </p:txBody>
      </p:sp>
      <p:sp>
        <p:nvSpPr>
          <p:cNvPr id="22" name="Text 20"/>
          <p:cNvSpPr/>
          <p:nvPr/>
        </p:nvSpPr>
        <p:spPr>
          <a:xfrm>
            <a:off x="237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Seed papers follow the same title/abstract/body/author structure. This ensures the random pool papers have consistent formatting with the real arXiv seed papers.</a:t>
            </a:r>
            <a:endParaRPr lang="en-US" sz="1100" dirty="0"/>
          </a:p>
        </p:txBody>
      </p:sp>
      <p:sp>
        <p:nvSpPr>
          <p:cNvPr id="23" name="Shape 21"/>
          <p:cNvSpPr/>
          <p:nvPr/>
        </p:nvSpPr>
        <p:spPr>
          <a:xfrm>
            <a:off x="4663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24" name="Shape 22"/>
          <p:cNvSpPr/>
          <p:nvPr/>
        </p:nvSpPr>
        <p:spPr>
          <a:xfrm>
            <a:off x="4663440" y="2194560"/>
            <a:ext cx="54864" cy="1298448"/>
          </a:xfrm>
          <a:prstGeom prst="rect">
            <a:avLst/>
          </a:prstGeom>
          <a:solidFill>
            <a:srgbClr val="16A34A"/>
          </a:solidFill>
          <a:ln w="12700">
            <a:solidFill>
              <a:srgbClr val="16A34A"/>
            </a:solidFill>
            <a:prstDash val="solid"/>
          </a:ln>
        </p:spPr>
        <p:txBody>
          <a:bodyPr/>
          <a:lstStyle/>
          <a:p>
            <a:endParaRPr lang="en-US"/>
          </a:p>
        </p:txBody>
      </p:sp>
      <p:sp>
        <p:nvSpPr>
          <p:cNvPr id="25" name="Shape 23"/>
          <p:cNvSpPr/>
          <p:nvPr/>
        </p:nvSpPr>
        <p:spPr>
          <a:xfrm>
            <a:off x="4791456" y="2286000"/>
            <a:ext cx="1554480" cy="246888"/>
          </a:xfrm>
          <a:prstGeom prst="rect">
            <a:avLst/>
          </a:prstGeom>
          <a:solidFill>
            <a:srgbClr val="16A34A"/>
          </a:solidFill>
          <a:ln w="12700">
            <a:solidFill>
              <a:srgbClr val="16A34A"/>
            </a:solidFill>
            <a:prstDash val="solid"/>
          </a:ln>
        </p:spPr>
        <p:txBody>
          <a:bodyPr/>
          <a:lstStyle/>
          <a:p>
            <a:endParaRPr lang="en-US"/>
          </a:p>
        </p:txBody>
      </p:sp>
      <p:sp>
        <p:nvSpPr>
          <p:cNvPr id="26" name="Text 24"/>
          <p:cNvSpPr/>
          <p:nvPr/>
        </p:nvSpPr>
        <p:spPr>
          <a:xfrm>
            <a:off x="4791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CITATION COUNT</a:t>
            </a:r>
            <a:endParaRPr lang="en-US" sz="850" dirty="0"/>
          </a:p>
        </p:txBody>
      </p:sp>
      <p:sp>
        <p:nvSpPr>
          <p:cNvPr id="27" name="Text 25"/>
          <p:cNvSpPr/>
          <p:nvPr/>
        </p:nvSpPr>
        <p:spPr>
          <a:xfrm>
            <a:off x="4809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Inline Citation Extraction</a:t>
            </a:r>
            <a:endParaRPr lang="en-US" sz="1200" dirty="0"/>
          </a:p>
        </p:txBody>
      </p:sp>
      <p:sp>
        <p:nvSpPr>
          <p:cNvPr id="28" name="Text 26"/>
          <p:cNvSpPr/>
          <p:nvPr/>
        </p:nvSpPr>
        <p:spPr>
          <a:xfrm>
            <a:off x="4809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Citations were counted using regex pattern matching on inline references (e.g. Smith, 2020). This avoids reliance on LLM self-reporting of citation counts.</a:t>
            </a:r>
            <a:endParaRPr lang="en-US" sz="1100" dirty="0"/>
          </a:p>
        </p:txBody>
      </p:sp>
      <p:sp>
        <p:nvSpPr>
          <p:cNvPr id="29" name="Shape 27"/>
          <p:cNvSpPr/>
          <p:nvPr/>
        </p:nvSpPr>
        <p:spPr>
          <a:xfrm>
            <a:off x="91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0" name="Shape 28"/>
          <p:cNvSpPr/>
          <p:nvPr/>
        </p:nvSpPr>
        <p:spPr>
          <a:xfrm>
            <a:off x="91440" y="3584448"/>
            <a:ext cx="54864" cy="1298448"/>
          </a:xfrm>
          <a:prstGeom prst="rect">
            <a:avLst/>
          </a:prstGeom>
          <a:solidFill>
            <a:srgbClr val="7C3AED"/>
          </a:solidFill>
          <a:ln w="12700">
            <a:solidFill>
              <a:srgbClr val="7C3AED"/>
            </a:solidFill>
            <a:prstDash val="solid"/>
          </a:ln>
        </p:spPr>
        <p:txBody>
          <a:bodyPr/>
          <a:lstStyle/>
          <a:p>
            <a:endParaRPr lang="en-US"/>
          </a:p>
        </p:txBody>
      </p:sp>
      <p:sp>
        <p:nvSpPr>
          <p:cNvPr id="31" name="Shape 29"/>
          <p:cNvSpPr/>
          <p:nvPr/>
        </p:nvSpPr>
        <p:spPr>
          <a:xfrm>
            <a:off x="219456" y="3675888"/>
            <a:ext cx="1554480" cy="246888"/>
          </a:xfrm>
          <a:prstGeom prst="rect">
            <a:avLst/>
          </a:prstGeom>
          <a:solidFill>
            <a:srgbClr val="7C3AED"/>
          </a:solidFill>
          <a:ln w="12700">
            <a:solidFill>
              <a:srgbClr val="7C3AED"/>
            </a:solidFill>
            <a:prstDash val="solid"/>
          </a:ln>
        </p:spPr>
        <p:txBody>
          <a:bodyPr/>
          <a:lstStyle/>
          <a:p>
            <a:endParaRPr lang="en-US"/>
          </a:p>
        </p:txBody>
      </p:sp>
      <p:sp>
        <p:nvSpPr>
          <p:cNvPr id="32" name="Text 30"/>
          <p:cNvSpPr/>
          <p:nvPr/>
        </p:nvSpPr>
        <p:spPr>
          <a:xfrm>
            <a:off x="219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NAME FILTERING</a:t>
            </a:r>
            <a:endParaRPr lang="en-US" sz="850" dirty="0"/>
          </a:p>
        </p:txBody>
      </p:sp>
      <p:sp>
        <p:nvSpPr>
          <p:cNvPr id="33" name="Text 31"/>
          <p:cNvSpPr/>
          <p:nvPr/>
        </p:nvSpPr>
        <p:spPr>
          <a:xfrm>
            <a:off x="237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Fake Author Name Generation</a:t>
            </a:r>
            <a:endParaRPr lang="en-US" sz="1200" dirty="0"/>
          </a:p>
        </p:txBody>
      </p:sp>
      <p:sp>
        <p:nvSpPr>
          <p:cNvPr id="34" name="Text 32"/>
          <p:cNvSpPr/>
          <p:nvPr/>
        </p:nvSpPr>
        <p:spPr>
          <a:xfrm>
            <a:off x="237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Author names generated via Python Faker library (not LLM). Names with multiple words or apostrophes were discarded. Duplicate name-year combinations were also removed.</a:t>
            </a:r>
            <a:endParaRPr lang="en-US" sz="1100" dirty="0"/>
          </a:p>
        </p:txBody>
      </p:sp>
      <p:sp>
        <p:nvSpPr>
          <p:cNvPr id="35" name="Shape 33"/>
          <p:cNvSpPr/>
          <p:nvPr/>
        </p:nvSpPr>
        <p:spPr>
          <a:xfrm>
            <a:off x="4663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6" name="Shape 34"/>
          <p:cNvSpPr/>
          <p:nvPr/>
        </p:nvSpPr>
        <p:spPr>
          <a:xfrm>
            <a:off x="4663440" y="3584448"/>
            <a:ext cx="54864" cy="1298448"/>
          </a:xfrm>
          <a:prstGeom prst="rect">
            <a:avLst/>
          </a:prstGeom>
          <a:solidFill>
            <a:srgbClr val="B45309"/>
          </a:solidFill>
          <a:ln w="12700">
            <a:solidFill>
              <a:srgbClr val="B45309"/>
            </a:solidFill>
            <a:prstDash val="solid"/>
          </a:ln>
        </p:spPr>
        <p:txBody>
          <a:bodyPr/>
          <a:lstStyle/>
          <a:p>
            <a:endParaRPr lang="en-US"/>
          </a:p>
        </p:txBody>
      </p:sp>
      <p:sp>
        <p:nvSpPr>
          <p:cNvPr id="37" name="Shape 35"/>
          <p:cNvSpPr/>
          <p:nvPr/>
        </p:nvSpPr>
        <p:spPr>
          <a:xfrm>
            <a:off x="4791456" y="3675888"/>
            <a:ext cx="1554480" cy="246888"/>
          </a:xfrm>
          <a:prstGeom prst="rect">
            <a:avLst/>
          </a:prstGeom>
          <a:solidFill>
            <a:srgbClr val="B45309"/>
          </a:solidFill>
          <a:ln w="12700">
            <a:solidFill>
              <a:srgbClr val="B45309"/>
            </a:solidFill>
            <a:prstDash val="solid"/>
          </a:ln>
        </p:spPr>
        <p:txBody>
          <a:bodyPr/>
          <a:lstStyle/>
          <a:p>
            <a:endParaRPr lang="en-US"/>
          </a:p>
        </p:txBody>
      </p:sp>
      <p:sp>
        <p:nvSpPr>
          <p:cNvPr id="38" name="Text 36"/>
          <p:cNvSpPr/>
          <p:nvPr/>
        </p:nvSpPr>
        <p:spPr>
          <a:xfrm>
            <a:off x="4791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SEED CUTOFF</a:t>
            </a:r>
            <a:endParaRPr lang="en-US" sz="850" dirty="0"/>
          </a:p>
        </p:txBody>
      </p:sp>
      <p:sp>
        <p:nvSpPr>
          <p:cNvPr id="39" name="Text 37"/>
          <p:cNvSpPr/>
          <p:nvPr/>
        </p:nvSpPr>
        <p:spPr>
          <a:xfrm>
            <a:off x="4809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Pre-November 2022 Seeds</a:t>
            </a:r>
            <a:endParaRPr lang="en-US" sz="1200" dirty="0"/>
          </a:p>
        </p:txBody>
      </p:sp>
      <p:sp>
        <p:nvSpPr>
          <p:cNvPr id="40" name="Text 38"/>
          <p:cNvSpPr/>
          <p:nvPr/>
        </p:nvSpPr>
        <p:spPr>
          <a:xfrm>
            <a:off x="4809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All 30 seed papers predate GPT's training cutoff (Nov 2022). A future experiment could add post-cutoff papers to test whether the model over/undercites pre-cutoff work.</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33"/>
          </a:solidFill>
          <a:ln w="12700">
            <a:solidFill>
              <a:srgbClr val="0F1E33"/>
            </a:solidFill>
            <a:prstDash val="solid"/>
          </a:ln>
        </p:spPr>
        <p:txBody>
          <a:bodyPr/>
          <a:lstStyle/>
          <a:p>
            <a:endParaRPr lang="en-US"/>
          </a:p>
        </p:txBody>
      </p:sp>
      <p:sp>
        <p:nvSpPr>
          <p:cNvPr id="3" name="Shape 1"/>
          <p:cNvSpPr/>
          <p:nvPr/>
        </p:nvSpPr>
        <p:spPr>
          <a:xfrm>
            <a:off x="0" y="0"/>
            <a:ext cx="64008" cy="5143500"/>
          </a:xfrm>
          <a:prstGeom prst="rect">
            <a:avLst/>
          </a:prstGeom>
          <a:solidFill>
            <a:srgbClr val="0891B2"/>
          </a:solidFill>
          <a:ln w="12700">
            <a:solidFill>
              <a:srgbClr val="0891B2"/>
            </a:solidFill>
            <a:prstDash val="solid"/>
          </a:ln>
        </p:spPr>
        <p:txBody>
          <a:bodyPr/>
          <a:lstStyle/>
          <a:p>
            <a:endParaRPr lang="en-US"/>
          </a:p>
        </p:txBody>
      </p:sp>
      <p:sp>
        <p:nvSpPr>
          <p:cNvPr id="4" name="Text 2"/>
          <p:cNvSpPr/>
          <p:nvPr/>
        </p:nvSpPr>
        <p:spPr>
          <a:xfrm>
            <a:off x="182880" y="36576"/>
            <a:ext cx="8869680" cy="6126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Methodology — Design Rationale &amp; Future Directions</a:t>
            </a:r>
            <a:endParaRPr lang="en-US" sz="2000" dirty="0"/>
          </a:p>
        </p:txBody>
      </p:sp>
      <p:sp>
        <p:nvSpPr>
          <p:cNvPr id="5" name="Shape 3"/>
          <p:cNvSpPr/>
          <p:nvPr/>
        </p:nvSpPr>
        <p:spPr>
          <a:xfrm>
            <a:off x="91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6" name="Shape 4"/>
          <p:cNvSpPr/>
          <p:nvPr/>
        </p:nvSpPr>
        <p:spPr>
          <a:xfrm>
            <a:off x="91440" y="804672"/>
            <a:ext cx="54864" cy="1298448"/>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219456" y="896112"/>
            <a:ext cx="1554480" cy="246888"/>
          </a:xfrm>
          <a:prstGeom prst="rect">
            <a:avLst/>
          </a:prstGeom>
          <a:solidFill>
            <a:srgbClr val="0891B2"/>
          </a:solidFill>
          <a:ln w="12700">
            <a:solidFill>
              <a:srgbClr val="0891B2"/>
            </a:solidFill>
            <a:prstDash val="solid"/>
          </a:ln>
        </p:spPr>
        <p:txBody>
          <a:bodyPr/>
          <a:lstStyle/>
          <a:p>
            <a:endParaRPr lang="en-US"/>
          </a:p>
        </p:txBody>
      </p:sp>
      <p:sp>
        <p:nvSpPr>
          <p:cNvPr id="8" name="Text 6"/>
          <p:cNvSpPr/>
          <p:nvPr/>
        </p:nvSpPr>
        <p:spPr>
          <a:xfrm>
            <a:off x="219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ANONYMIZATION</a:t>
            </a:r>
            <a:endParaRPr lang="en-US" sz="850" dirty="0"/>
          </a:p>
        </p:txBody>
      </p:sp>
      <p:sp>
        <p:nvSpPr>
          <p:cNvPr id="9" name="Text 7"/>
          <p:cNvSpPr/>
          <p:nvPr/>
        </p:nvSpPr>
        <p:spPr>
          <a:xfrm>
            <a:off x="237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Why Fake Names &amp; Years?</a:t>
            </a:r>
            <a:endParaRPr lang="en-US" sz="1200" dirty="0"/>
          </a:p>
        </p:txBody>
      </p:sp>
      <p:sp>
        <p:nvSpPr>
          <p:cNvPr id="10" name="Text 8"/>
          <p:cNvSpPr/>
          <p:nvPr/>
        </p:nvSpPr>
        <p:spPr>
          <a:xfrm>
            <a:off x="237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Prevents the LLM from recognizing papers by author reputation or recency. Seeds get years 2017–2022; generated papers get 2017–2025 to create overlap without a clean temporal signal.</a:t>
            </a:r>
            <a:endParaRPr lang="en-US" sz="1100" dirty="0"/>
          </a:p>
        </p:txBody>
      </p:sp>
      <p:sp>
        <p:nvSpPr>
          <p:cNvPr id="11" name="Shape 9"/>
          <p:cNvSpPr/>
          <p:nvPr/>
        </p:nvSpPr>
        <p:spPr>
          <a:xfrm>
            <a:off x="4663440" y="804672"/>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2" name="Shape 10"/>
          <p:cNvSpPr/>
          <p:nvPr/>
        </p:nvSpPr>
        <p:spPr>
          <a:xfrm>
            <a:off x="4663440" y="804672"/>
            <a:ext cx="54864" cy="1298448"/>
          </a:xfrm>
          <a:prstGeom prst="rect">
            <a:avLst/>
          </a:prstGeom>
          <a:solidFill>
            <a:srgbClr val="EA580C"/>
          </a:solidFill>
          <a:ln w="12700">
            <a:solidFill>
              <a:srgbClr val="EA580C"/>
            </a:solidFill>
            <a:prstDash val="solid"/>
          </a:ln>
        </p:spPr>
        <p:txBody>
          <a:bodyPr/>
          <a:lstStyle/>
          <a:p>
            <a:endParaRPr lang="en-US"/>
          </a:p>
        </p:txBody>
      </p:sp>
      <p:sp>
        <p:nvSpPr>
          <p:cNvPr id="13" name="Shape 11"/>
          <p:cNvSpPr/>
          <p:nvPr/>
        </p:nvSpPr>
        <p:spPr>
          <a:xfrm>
            <a:off x="4791456" y="896112"/>
            <a:ext cx="1554480" cy="246888"/>
          </a:xfrm>
          <a:prstGeom prst="rect">
            <a:avLst/>
          </a:prstGeom>
          <a:solidFill>
            <a:srgbClr val="EA580C"/>
          </a:solidFill>
          <a:ln w="12700">
            <a:solidFill>
              <a:srgbClr val="EA580C"/>
            </a:solidFill>
            <a:prstDash val="solid"/>
          </a:ln>
        </p:spPr>
        <p:txBody>
          <a:bodyPr/>
          <a:lstStyle/>
          <a:p>
            <a:endParaRPr lang="en-US"/>
          </a:p>
        </p:txBody>
      </p:sp>
      <p:sp>
        <p:nvSpPr>
          <p:cNvPr id="14" name="Text 12"/>
          <p:cNvSpPr/>
          <p:nvPr/>
        </p:nvSpPr>
        <p:spPr>
          <a:xfrm>
            <a:off x="4791456" y="896112"/>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POOL GROWTH</a:t>
            </a:r>
            <a:endParaRPr lang="en-US" sz="850" dirty="0"/>
          </a:p>
        </p:txBody>
      </p:sp>
      <p:sp>
        <p:nvSpPr>
          <p:cNvPr id="15" name="Text 13"/>
          <p:cNvSpPr/>
          <p:nvPr/>
        </p:nvSpPr>
        <p:spPr>
          <a:xfrm>
            <a:off x="4809744" y="1207008"/>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Expanding Context Pool</a:t>
            </a:r>
            <a:endParaRPr lang="en-US" sz="1200" dirty="0"/>
          </a:p>
        </p:txBody>
      </p:sp>
      <p:sp>
        <p:nvSpPr>
          <p:cNvPr id="16" name="Text 14"/>
          <p:cNvSpPr/>
          <p:nvPr/>
        </p:nvSpPr>
        <p:spPr>
          <a:xfrm>
            <a:off x="4809744" y="1517904"/>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Pool grows from 30 to 210 papers across 6 generations. Each generation, the LLM sees a random sample of 30 papers from the current pool and must cite 5–10 of them.</a:t>
            </a:r>
            <a:endParaRPr lang="en-US" sz="1100" dirty="0"/>
          </a:p>
        </p:txBody>
      </p:sp>
      <p:sp>
        <p:nvSpPr>
          <p:cNvPr id="17" name="Shape 15"/>
          <p:cNvSpPr/>
          <p:nvPr/>
        </p:nvSpPr>
        <p:spPr>
          <a:xfrm>
            <a:off x="91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18" name="Shape 16"/>
          <p:cNvSpPr/>
          <p:nvPr/>
        </p:nvSpPr>
        <p:spPr>
          <a:xfrm>
            <a:off x="91440" y="2194560"/>
            <a:ext cx="54864" cy="1298448"/>
          </a:xfrm>
          <a:prstGeom prst="rect">
            <a:avLst/>
          </a:prstGeom>
          <a:solidFill>
            <a:srgbClr val="4F46E5"/>
          </a:solidFill>
          <a:ln w="12700">
            <a:solidFill>
              <a:srgbClr val="4F46E5"/>
            </a:solidFill>
            <a:prstDash val="solid"/>
          </a:ln>
        </p:spPr>
        <p:txBody>
          <a:bodyPr/>
          <a:lstStyle/>
          <a:p>
            <a:endParaRPr lang="en-US"/>
          </a:p>
        </p:txBody>
      </p:sp>
      <p:sp>
        <p:nvSpPr>
          <p:cNvPr id="19" name="Shape 17"/>
          <p:cNvSpPr/>
          <p:nvPr/>
        </p:nvSpPr>
        <p:spPr>
          <a:xfrm>
            <a:off x="219456" y="2286000"/>
            <a:ext cx="1554480" cy="24688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219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SINGLE TOPIC</a:t>
            </a:r>
            <a:endParaRPr lang="en-US" sz="850" dirty="0"/>
          </a:p>
        </p:txBody>
      </p:sp>
      <p:sp>
        <p:nvSpPr>
          <p:cNvPr id="21" name="Text 19"/>
          <p:cNvSpPr/>
          <p:nvPr/>
        </p:nvSpPr>
        <p:spPr>
          <a:xfrm>
            <a:off x="237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Only Knowledge Distillation</a:t>
            </a:r>
            <a:endParaRPr lang="en-US" sz="1200" dirty="0"/>
          </a:p>
        </p:txBody>
      </p:sp>
      <p:sp>
        <p:nvSpPr>
          <p:cNvPr id="22" name="Text 20"/>
          <p:cNvSpPr/>
          <p:nvPr/>
        </p:nvSpPr>
        <p:spPr>
          <a:xfrm>
            <a:off x="237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Only one research topic was tested. v1 used attention mechanisms and produced extreme Gini (0.79). Topic familiarity is a significant variable worth exploring across domains.</a:t>
            </a:r>
            <a:endParaRPr lang="en-US" sz="1100" dirty="0"/>
          </a:p>
        </p:txBody>
      </p:sp>
      <p:sp>
        <p:nvSpPr>
          <p:cNvPr id="23" name="Shape 21"/>
          <p:cNvSpPr/>
          <p:nvPr/>
        </p:nvSpPr>
        <p:spPr>
          <a:xfrm>
            <a:off x="4663440" y="2194560"/>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24" name="Shape 22"/>
          <p:cNvSpPr/>
          <p:nvPr/>
        </p:nvSpPr>
        <p:spPr>
          <a:xfrm>
            <a:off x="4663440" y="2194560"/>
            <a:ext cx="54864" cy="1298448"/>
          </a:xfrm>
          <a:prstGeom prst="rect">
            <a:avLst/>
          </a:prstGeom>
          <a:solidFill>
            <a:srgbClr val="16A34A"/>
          </a:solidFill>
          <a:ln w="12700">
            <a:solidFill>
              <a:srgbClr val="16A34A"/>
            </a:solidFill>
            <a:prstDash val="solid"/>
          </a:ln>
        </p:spPr>
        <p:txBody>
          <a:bodyPr/>
          <a:lstStyle/>
          <a:p>
            <a:endParaRPr lang="en-US"/>
          </a:p>
        </p:txBody>
      </p:sp>
      <p:sp>
        <p:nvSpPr>
          <p:cNvPr id="25" name="Shape 23"/>
          <p:cNvSpPr/>
          <p:nvPr/>
        </p:nvSpPr>
        <p:spPr>
          <a:xfrm>
            <a:off x="4791456" y="2286000"/>
            <a:ext cx="1554480" cy="246888"/>
          </a:xfrm>
          <a:prstGeom prst="rect">
            <a:avLst/>
          </a:prstGeom>
          <a:solidFill>
            <a:srgbClr val="16A34A"/>
          </a:solidFill>
          <a:ln w="12700">
            <a:solidFill>
              <a:srgbClr val="16A34A"/>
            </a:solidFill>
            <a:prstDash val="solid"/>
          </a:ln>
        </p:spPr>
        <p:txBody>
          <a:bodyPr/>
          <a:lstStyle/>
          <a:p>
            <a:endParaRPr lang="en-US"/>
          </a:p>
        </p:txBody>
      </p:sp>
      <p:sp>
        <p:nvSpPr>
          <p:cNvPr id="26" name="Text 24"/>
          <p:cNvSpPr/>
          <p:nvPr/>
        </p:nvSpPr>
        <p:spPr>
          <a:xfrm>
            <a:off x="4791456" y="2286000"/>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SINGLE MODEL</a:t>
            </a:r>
            <a:endParaRPr lang="en-US" sz="850" dirty="0"/>
          </a:p>
        </p:txBody>
      </p:sp>
      <p:sp>
        <p:nvSpPr>
          <p:cNvPr id="27" name="Text 25"/>
          <p:cNvSpPr/>
          <p:nvPr/>
        </p:nvSpPr>
        <p:spPr>
          <a:xfrm>
            <a:off x="4809744" y="2596896"/>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GPT-4.5-mini Only</a:t>
            </a:r>
            <a:endParaRPr lang="en-US" sz="1200" dirty="0"/>
          </a:p>
        </p:txBody>
      </p:sp>
      <p:sp>
        <p:nvSpPr>
          <p:cNvPr id="28" name="Text 26"/>
          <p:cNvSpPr/>
          <p:nvPr/>
        </p:nvSpPr>
        <p:spPr>
          <a:xfrm>
            <a:off x="4809744" y="2907792"/>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Only one LLM was tested. Different models with different training data, RLHF tuning, or temperature settings may produce different citation distributions and preference patterns.</a:t>
            </a:r>
            <a:endParaRPr lang="en-US" sz="1100" dirty="0"/>
          </a:p>
        </p:txBody>
      </p:sp>
      <p:sp>
        <p:nvSpPr>
          <p:cNvPr id="29" name="Shape 27"/>
          <p:cNvSpPr/>
          <p:nvPr/>
        </p:nvSpPr>
        <p:spPr>
          <a:xfrm>
            <a:off x="91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0" name="Shape 28"/>
          <p:cNvSpPr/>
          <p:nvPr/>
        </p:nvSpPr>
        <p:spPr>
          <a:xfrm>
            <a:off x="91440" y="3584448"/>
            <a:ext cx="54864" cy="1298448"/>
          </a:xfrm>
          <a:prstGeom prst="rect">
            <a:avLst/>
          </a:prstGeom>
          <a:solidFill>
            <a:srgbClr val="7C3AED"/>
          </a:solidFill>
          <a:ln w="12700">
            <a:solidFill>
              <a:srgbClr val="7C3AED"/>
            </a:solidFill>
            <a:prstDash val="solid"/>
          </a:ln>
        </p:spPr>
        <p:txBody>
          <a:bodyPr/>
          <a:lstStyle/>
          <a:p>
            <a:endParaRPr lang="en-US"/>
          </a:p>
        </p:txBody>
      </p:sp>
      <p:sp>
        <p:nvSpPr>
          <p:cNvPr id="31" name="Shape 29"/>
          <p:cNvSpPr/>
          <p:nvPr/>
        </p:nvSpPr>
        <p:spPr>
          <a:xfrm>
            <a:off x="219456" y="3675888"/>
            <a:ext cx="1554480" cy="246888"/>
          </a:xfrm>
          <a:prstGeom prst="rect">
            <a:avLst/>
          </a:prstGeom>
          <a:solidFill>
            <a:srgbClr val="7C3AED"/>
          </a:solidFill>
          <a:ln w="12700">
            <a:solidFill>
              <a:srgbClr val="7C3AED"/>
            </a:solidFill>
            <a:prstDash val="solid"/>
          </a:ln>
        </p:spPr>
        <p:txBody>
          <a:bodyPr/>
          <a:lstStyle/>
          <a:p>
            <a:endParaRPr lang="en-US"/>
          </a:p>
        </p:txBody>
      </p:sp>
      <p:sp>
        <p:nvSpPr>
          <p:cNvPr id="32" name="Text 30"/>
          <p:cNvSpPr/>
          <p:nvPr/>
        </p:nvSpPr>
        <p:spPr>
          <a:xfrm>
            <a:off x="219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FUTURE WORK</a:t>
            </a:r>
            <a:endParaRPr lang="en-US" sz="850" dirty="0"/>
          </a:p>
        </p:txBody>
      </p:sp>
      <p:sp>
        <p:nvSpPr>
          <p:cNvPr id="33" name="Text 31"/>
          <p:cNvSpPr/>
          <p:nvPr/>
        </p:nvSpPr>
        <p:spPr>
          <a:xfrm>
            <a:off x="237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Post-Cutoff Paper Injection</a:t>
            </a:r>
            <a:endParaRPr lang="en-US" sz="1200" dirty="0"/>
          </a:p>
        </p:txBody>
      </p:sp>
      <p:sp>
        <p:nvSpPr>
          <p:cNvPr id="34" name="Text 32"/>
          <p:cNvSpPr/>
          <p:nvPr/>
        </p:nvSpPr>
        <p:spPr>
          <a:xfrm>
            <a:off x="237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Adding papers published after Nov 2022 would test whether the model systematically over/undercites papers from its training window vs. truly unseen research.</a:t>
            </a:r>
            <a:endParaRPr lang="en-US" sz="1100" dirty="0"/>
          </a:p>
        </p:txBody>
      </p:sp>
      <p:sp>
        <p:nvSpPr>
          <p:cNvPr id="35" name="Shape 33"/>
          <p:cNvSpPr/>
          <p:nvPr/>
        </p:nvSpPr>
        <p:spPr>
          <a:xfrm>
            <a:off x="4663440" y="3584448"/>
            <a:ext cx="4297680" cy="1298448"/>
          </a:xfrm>
          <a:prstGeom prst="rect">
            <a:avLst/>
          </a:prstGeom>
          <a:solidFill>
            <a:srgbClr val="FFFFFF"/>
          </a:solidFill>
          <a:ln w="12700">
            <a:solidFill>
              <a:srgbClr val="FFFFFF"/>
            </a:solidFill>
            <a:prstDash val="solid"/>
          </a:ln>
          <a:effectLst>
            <a:outerShdw blurRad="127000" dist="38100" dir="8100000" algn="bl" rotWithShape="0">
              <a:srgbClr val="000000">
                <a:alpha val="9000"/>
              </a:srgbClr>
            </a:outerShdw>
          </a:effectLst>
        </p:spPr>
        <p:txBody>
          <a:bodyPr/>
          <a:lstStyle/>
          <a:p>
            <a:endParaRPr lang="en-US"/>
          </a:p>
        </p:txBody>
      </p:sp>
      <p:sp>
        <p:nvSpPr>
          <p:cNvPr id="36" name="Shape 34"/>
          <p:cNvSpPr/>
          <p:nvPr/>
        </p:nvSpPr>
        <p:spPr>
          <a:xfrm>
            <a:off x="4663440" y="3584448"/>
            <a:ext cx="54864" cy="1298448"/>
          </a:xfrm>
          <a:prstGeom prst="rect">
            <a:avLst/>
          </a:prstGeom>
          <a:solidFill>
            <a:srgbClr val="B45309"/>
          </a:solidFill>
          <a:ln w="12700">
            <a:solidFill>
              <a:srgbClr val="B45309"/>
            </a:solidFill>
            <a:prstDash val="solid"/>
          </a:ln>
        </p:spPr>
        <p:txBody>
          <a:bodyPr/>
          <a:lstStyle/>
          <a:p>
            <a:endParaRPr lang="en-US"/>
          </a:p>
        </p:txBody>
      </p:sp>
      <p:sp>
        <p:nvSpPr>
          <p:cNvPr id="37" name="Shape 35"/>
          <p:cNvSpPr/>
          <p:nvPr/>
        </p:nvSpPr>
        <p:spPr>
          <a:xfrm>
            <a:off x="4791456" y="3675888"/>
            <a:ext cx="1554480" cy="246888"/>
          </a:xfrm>
          <a:prstGeom prst="rect">
            <a:avLst/>
          </a:prstGeom>
          <a:solidFill>
            <a:srgbClr val="B45309"/>
          </a:solidFill>
          <a:ln w="12700">
            <a:solidFill>
              <a:srgbClr val="B45309"/>
            </a:solidFill>
            <a:prstDash val="solid"/>
          </a:ln>
        </p:spPr>
        <p:txBody>
          <a:bodyPr/>
          <a:lstStyle/>
          <a:p>
            <a:endParaRPr lang="en-US"/>
          </a:p>
        </p:txBody>
      </p:sp>
      <p:sp>
        <p:nvSpPr>
          <p:cNvPr id="38" name="Text 36"/>
          <p:cNvSpPr/>
          <p:nvPr/>
        </p:nvSpPr>
        <p:spPr>
          <a:xfrm>
            <a:off x="4791456" y="3675888"/>
            <a:ext cx="155448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FUTURE WORK</a:t>
            </a:r>
            <a:endParaRPr lang="en-US" sz="850" dirty="0"/>
          </a:p>
        </p:txBody>
      </p:sp>
      <p:sp>
        <p:nvSpPr>
          <p:cNvPr id="39" name="Text 37"/>
          <p:cNvSpPr/>
          <p:nvPr/>
        </p:nvSpPr>
        <p:spPr>
          <a:xfrm>
            <a:off x="4809744" y="3986784"/>
            <a:ext cx="40690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Cross-Topic &amp; Multi-Model</a:t>
            </a:r>
            <a:endParaRPr lang="en-US" sz="1200" dirty="0"/>
          </a:p>
        </p:txBody>
      </p:sp>
      <p:sp>
        <p:nvSpPr>
          <p:cNvPr id="40" name="Text 38"/>
          <p:cNvSpPr/>
          <p:nvPr/>
        </p:nvSpPr>
        <p:spPr>
          <a:xfrm>
            <a:off x="4809744" y="4297680"/>
            <a:ext cx="4069080" cy="49377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Repeating the experiment across multiple topics and LLMs would reveal whether citation bias is a universal LLM behavior or specific to certain model-topic combinations.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0F1E33"/>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228600" y="164592"/>
            <a:ext cx="8686800" cy="475488"/>
          </a:xfrm>
          <a:prstGeom prst="rect">
            <a:avLst/>
          </a:prstGeom>
          <a:noFill/>
          <a:ln/>
        </p:spPr>
        <p:txBody>
          <a:bodyPr wrap="square" lIns="0" tIns="0" rIns="0" bIns="0" rtlCol="0" anchor="ctr"/>
          <a:lstStyle/>
          <a:p>
            <a:pPr marL="0" indent="0">
              <a:buNone/>
            </a:pPr>
            <a:r>
              <a:rPr lang="en-US" sz="1300" b="1" kern="0" spc="300" dirty="0">
                <a:solidFill>
                  <a:srgbClr val="BAE6FD"/>
                </a:solidFill>
                <a:latin typeface="Calibri" pitchFamily="34" charset="0"/>
                <a:ea typeface="Calibri" pitchFamily="34" charset="-122"/>
                <a:cs typeface="Calibri" pitchFamily="34" charset="-120"/>
              </a:rPr>
              <a:t>Formalized Analysis</a:t>
            </a:r>
            <a:endParaRPr lang="en-US" sz="1300" dirty="0"/>
          </a:p>
        </p:txBody>
      </p:sp>
      <p:sp>
        <p:nvSpPr>
          <p:cNvPr id="4" name="Shape 2"/>
          <p:cNvSpPr/>
          <p:nvPr/>
        </p:nvSpPr>
        <p:spPr>
          <a:xfrm>
            <a:off x="228600" y="685800"/>
            <a:ext cx="8686800" cy="0"/>
          </a:xfrm>
          <a:prstGeom prst="line">
            <a:avLst/>
          </a:prstGeom>
          <a:noFill/>
          <a:ln w="19050">
            <a:solidFill>
              <a:srgbClr val="0891B2"/>
            </a:solidFill>
            <a:prstDash val="solid"/>
          </a:ln>
        </p:spPr>
        <p:txBody>
          <a:bodyPr/>
          <a:lstStyle/>
          <a:p>
            <a:endParaRPr lang="en-US"/>
          </a:p>
        </p:txBody>
      </p:sp>
      <p:sp>
        <p:nvSpPr>
          <p:cNvPr id="5" name="Text 3"/>
          <p:cNvSpPr/>
          <p:nvPr/>
        </p:nvSpPr>
        <p:spPr>
          <a:xfrm>
            <a:off x="228600" y="804672"/>
            <a:ext cx="873252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The evidence converges on a single mechanism: LLMs exhibit a persistent, measurable preference for human-written text that compounds across generations. This is not driven by topical relevance but by latent quality signals in academic writing.</a:t>
            </a:r>
            <a:endParaRPr lang="en-US" sz="1700" dirty="0"/>
          </a:p>
        </p:txBody>
      </p:sp>
      <p:sp>
        <p:nvSpPr>
          <p:cNvPr id="6" name="Shape 4"/>
          <p:cNvSpPr/>
          <p:nvPr/>
        </p:nvSpPr>
        <p:spPr>
          <a:xfrm>
            <a:off x="228600" y="2121408"/>
            <a:ext cx="54864" cy="822960"/>
          </a:xfrm>
          <a:prstGeom prst="rect">
            <a:avLst/>
          </a:prstGeom>
          <a:solidFill>
            <a:srgbClr val="0891B2"/>
          </a:solidFill>
          <a:ln w="12700">
            <a:solidFill>
              <a:srgbClr val="0891B2"/>
            </a:solidFill>
            <a:prstDash val="solid"/>
          </a:ln>
        </p:spPr>
        <p:txBody>
          <a:bodyPr/>
          <a:lstStyle/>
          <a:p>
            <a:endParaRPr lang="en-US"/>
          </a:p>
        </p:txBody>
      </p:sp>
      <p:sp>
        <p:nvSpPr>
          <p:cNvPr id="7" name="Shape 5"/>
          <p:cNvSpPr/>
          <p:nvPr/>
        </p:nvSpPr>
        <p:spPr>
          <a:xfrm>
            <a:off x="320040" y="2121408"/>
            <a:ext cx="8613648" cy="822960"/>
          </a:xfrm>
          <a:prstGeom prst="rect">
            <a:avLst/>
          </a:prstGeom>
          <a:solidFill>
            <a:srgbClr val="1A2E4A"/>
          </a:solidFill>
          <a:ln w="12700">
            <a:solidFill>
              <a:srgbClr val="1A2E4A"/>
            </a:solidFill>
            <a:prstDash val="solid"/>
          </a:ln>
        </p:spPr>
        <p:txBody>
          <a:bodyPr/>
          <a:lstStyle/>
          <a:p>
            <a:endParaRPr lang="en-US"/>
          </a:p>
        </p:txBody>
      </p:sp>
      <p:sp>
        <p:nvSpPr>
          <p:cNvPr id="8" name="Text 6"/>
          <p:cNvSpPr/>
          <p:nvPr/>
        </p:nvSpPr>
        <p:spPr>
          <a:xfrm>
            <a:off x="438912" y="2194560"/>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Compounding inequality: Gini triples 0.106 → 0.321 monotonically across 6 generations, exceeding random (0.049–0.280) and semantic (0.043–0.282) baselines at every step. [Findings 1–2]</a:t>
            </a:r>
            <a:endParaRPr lang="en-US" sz="1250" dirty="0"/>
          </a:p>
        </p:txBody>
      </p:sp>
      <p:sp>
        <p:nvSpPr>
          <p:cNvPr id="9" name="Shape 7"/>
          <p:cNvSpPr/>
          <p:nvPr/>
        </p:nvSpPr>
        <p:spPr>
          <a:xfrm>
            <a:off x="228600" y="3072384"/>
            <a:ext cx="54864" cy="822960"/>
          </a:xfrm>
          <a:prstGeom prst="rect">
            <a:avLst/>
          </a:prstGeom>
          <a:solidFill>
            <a:srgbClr val="EA580C"/>
          </a:solidFill>
          <a:ln w="12700">
            <a:solidFill>
              <a:srgbClr val="EA580C"/>
            </a:solidFill>
            <a:prstDash val="solid"/>
          </a:ln>
        </p:spPr>
        <p:txBody>
          <a:bodyPr/>
          <a:lstStyle/>
          <a:p>
            <a:endParaRPr lang="en-US"/>
          </a:p>
        </p:txBody>
      </p:sp>
      <p:sp>
        <p:nvSpPr>
          <p:cNvPr id="10" name="Shape 8"/>
          <p:cNvSpPr/>
          <p:nvPr/>
        </p:nvSpPr>
        <p:spPr>
          <a:xfrm>
            <a:off x="320040" y="3072384"/>
            <a:ext cx="8613648" cy="822960"/>
          </a:xfrm>
          <a:prstGeom prst="rect">
            <a:avLst/>
          </a:prstGeom>
          <a:solidFill>
            <a:srgbClr val="1A2E4A"/>
          </a:solidFill>
          <a:ln w="12700">
            <a:solidFill>
              <a:srgbClr val="1A2E4A"/>
            </a:solidFill>
            <a:prstDash val="solid"/>
          </a:ln>
        </p:spPr>
        <p:txBody>
          <a:bodyPr/>
          <a:lstStyle/>
          <a:p>
            <a:endParaRPr lang="en-US"/>
          </a:p>
        </p:txBody>
      </p:sp>
      <p:sp>
        <p:nvSpPr>
          <p:cNvPr id="11" name="Text 9"/>
          <p:cNvSpPr/>
          <p:nvPr/>
        </p:nvSpPr>
        <p:spPr>
          <a:xfrm>
            <a:off x="438912" y="3145536"/>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Mechanism identified: Seeds cited at 85–93% rates vs. generated papers at 70–75% (declining by origin generation). Inverse correlation with semantic similarity (r = −0.693) rules out relevance as the driver. [Findings 3–5]</a:t>
            </a:r>
            <a:endParaRPr lang="en-US" sz="1250" dirty="0"/>
          </a:p>
        </p:txBody>
      </p:sp>
      <p:sp>
        <p:nvSpPr>
          <p:cNvPr id="12" name="Shape 10"/>
          <p:cNvSpPr/>
          <p:nvPr/>
        </p:nvSpPr>
        <p:spPr>
          <a:xfrm>
            <a:off x="228600" y="4023360"/>
            <a:ext cx="54864" cy="822960"/>
          </a:xfrm>
          <a:prstGeom prst="rect">
            <a:avLst/>
          </a:prstGeom>
          <a:solidFill>
            <a:srgbClr val="4F46E5"/>
          </a:solidFill>
          <a:ln w="12700">
            <a:solidFill>
              <a:srgbClr val="4F46E5"/>
            </a:solidFill>
            <a:prstDash val="solid"/>
          </a:ln>
        </p:spPr>
        <p:txBody>
          <a:bodyPr/>
          <a:lstStyle/>
          <a:p>
            <a:endParaRPr lang="en-US"/>
          </a:p>
        </p:txBody>
      </p:sp>
      <p:sp>
        <p:nvSpPr>
          <p:cNvPr id="13" name="Shape 11"/>
          <p:cNvSpPr/>
          <p:nvPr/>
        </p:nvSpPr>
        <p:spPr>
          <a:xfrm>
            <a:off x="320040" y="4023360"/>
            <a:ext cx="8613648" cy="822960"/>
          </a:xfrm>
          <a:prstGeom prst="rect">
            <a:avLst/>
          </a:prstGeom>
          <a:solidFill>
            <a:srgbClr val="1A2E4A"/>
          </a:solidFill>
          <a:ln w="12700">
            <a:solidFill>
              <a:srgbClr val="1A2E4A"/>
            </a:solidFill>
            <a:prstDash val="solid"/>
          </a:ln>
        </p:spPr>
        <p:txBody>
          <a:bodyPr/>
          <a:lstStyle/>
          <a:p>
            <a:endParaRPr lang="en-US"/>
          </a:p>
        </p:txBody>
      </p:sp>
      <p:sp>
        <p:nvSpPr>
          <p:cNvPr id="14" name="Text 12"/>
          <p:cNvSpPr/>
          <p:nvPr/>
        </p:nvSpPr>
        <p:spPr>
          <a:xfrm>
            <a:off x="438912" y="4096512"/>
            <a:ext cx="8394192" cy="658368"/>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Growing exclusion tail: 10 papers (5.6%) receive zero citations by Gen 5, despite repeated exposure. Combined with 0.16% hallucination rate, this confirms active LLM selection, not noise. [Findings 6–7]</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txBody>
          <a:bodyPr/>
          <a:lstStyle/>
          <a:p>
            <a:endParaRPr lang="en-US"/>
          </a:p>
        </p:txBody>
      </p:sp>
      <p:sp>
        <p:nvSpPr>
          <p:cNvPr id="3" name="Shape 1"/>
          <p:cNvSpPr/>
          <p:nvPr/>
        </p:nvSpPr>
        <p:spPr>
          <a:xfrm>
            <a:off x="0" y="4503420"/>
            <a:ext cx="9144000" cy="640080"/>
          </a:xfrm>
          <a:prstGeom prst="rect">
            <a:avLst/>
          </a:prstGeom>
          <a:solidFill>
            <a:srgbClr val="070F1C"/>
          </a:solidFill>
          <a:ln w="12700">
            <a:solidFill>
              <a:srgbClr val="070F1C"/>
            </a:solidFill>
            <a:prstDash val="solid"/>
          </a:ln>
        </p:spPr>
        <p:txBody>
          <a:bodyPr/>
          <a:lstStyle/>
          <a:p>
            <a:endParaRPr lang="en-US"/>
          </a:p>
        </p:txBody>
      </p:sp>
      <p:sp>
        <p:nvSpPr>
          <p:cNvPr id="4" name="Text 2"/>
          <p:cNvSpPr/>
          <p:nvPr/>
        </p:nvSpPr>
        <p:spPr>
          <a:xfrm>
            <a:off x="256032" y="777240"/>
            <a:ext cx="8595360" cy="146304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Questions?</a:t>
            </a:r>
            <a:endParaRPr lang="en-US" sz="6400" dirty="0"/>
          </a:p>
        </p:txBody>
      </p:sp>
      <p:sp>
        <p:nvSpPr>
          <p:cNvPr id="5" name="Shape 3"/>
          <p:cNvSpPr/>
          <p:nvPr/>
        </p:nvSpPr>
        <p:spPr>
          <a:xfrm>
            <a:off x="256032" y="2331720"/>
            <a:ext cx="6583680" cy="0"/>
          </a:xfrm>
          <a:prstGeom prst="line">
            <a:avLst/>
          </a:prstGeom>
          <a:noFill/>
          <a:ln w="38100">
            <a:solidFill>
              <a:srgbClr val="0891B2"/>
            </a:solidFill>
            <a:prstDash val="solid"/>
          </a:ln>
        </p:spPr>
        <p:txBody>
          <a:bodyPr/>
          <a:lstStyle/>
          <a:p>
            <a:endParaRPr lang="en-US"/>
          </a:p>
        </p:txBody>
      </p:sp>
      <p:sp>
        <p:nvSpPr>
          <p:cNvPr id="6" name="Text 4"/>
          <p:cNvSpPr/>
          <p:nvPr/>
        </p:nvSpPr>
        <p:spPr>
          <a:xfrm>
            <a:off x="256032" y="2468880"/>
            <a:ext cx="8595360" cy="685800"/>
          </a:xfrm>
          <a:prstGeom prst="rect">
            <a:avLst/>
          </a:prstGeom>
          <a:noFill/>
          <a:ln/>
        </p:spPr>
        <p:txBody>
          <a:bodyPr wrap="square" lIns="0" tIns="0" rIns="0" bIns="0" rtlCol="0" anchor="ctr"/>
          <a:lstStyle/>
          <a:p>
            <a:pPr marL="0" indent="0">
              <a:buNone/>
            </a:pPr>
            <a:r>
              <a:rPr lang="en-US" sz="2000" dirty="0">
                <a:solidFill>
                  <a:srgbClr val="BAE6FD"/>
                </a:solidFill>
                <a:latin typeface="Calibri" pitchFamily="34" charset="0"/>
                <a:ea typeface="Calibri" pitchFamily="34" charset="-122"/>
                <a:cs typeface="Calibri" pitchFamily="34" charset="-120"/>
              </a:rPr>
              <a:t>Thank you for your attention.</a:t>
            </a:r>
            <a:endParaRPr lang="en-US" sz="2000" dirty="0"/>
          </a:p>
        </p:txBody>
      </p:sp>
      <p:sp>
        <p:nvSpPr>
          <p:cNvPr id="7" name="Text 5"/>
          <p:cNvSpPr/>
          <p:nvPr/>
        </p:nvSpPr>
        <p:spPr>
          <a:xfrm>
            <a:off x="256032" y="3246120"/>
            <a:ext cx="8595360" cy="41148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Anthony Qin  ·  alpha_0.2.0  ·  March 2026</a:t>
            </a:r>
            <a:endParaRPr lang="en-US" sz="1300" dirty="0"/>
          </a:p>
        </p:txBody>
      </p:sp>
      <p:sp>
        <p:nvSpPr>
          <p:cNvPr id="8" name="Text 6"/>
          <p:cNvSpPr/>
          <p:nvPr/>
        </p:nvSpPr>
        <p:spPr>
          <a:xfrm>
            <a:off x="25603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30</a:t>
            </a:r>
            <a:endParaRPr lang="en-US" sz="1400" dirty="0"/>
          </a:p>
        </p:txBody>
      </p:sp>
      <p:sp>
        <p:nvSpPr>
          <p:cNvPr id="9" name="Text 7"/>
          <p:cNvSpPr/>
          <p:nvPr/>
        </p:nvSpPr>
        <p:spPr>
          <a:xfrm>
            <a:off x="75895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Seed Papers</a:t>
            </a:r>
            <a:endParaRPr lang="en-US" sz="1200" dirty="0"/>
          </a:p>
        </p:txBody>
      </p:sp>
      <p:sp>
        <p:nvSpPr>
          <p:cNvPr id="10" name="Text 8"/>
          <p:cNvSpPr/>
          <p:nvPr/>
        </p:nvSpPr>
        <p:spPr>
          <a:xfrm>
            <a:off x="245059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6</a:t>
            </a:r>
            <a:endParaRPr lang="en-US" sz="1400" dirty="0"/>
          </a:p>
        </p:txBody>
      </p:sp>
      <p:sp>
        <p:nvSpPr>
          <p:cNvPr id="11" name="Text 9"/>
          <p:cNvSpPr/>
          <p:nvPr/>
        </p:nvSpPr>
        <p:spPr>
          <a:xfrm>
            <a:off x="295351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Generations</a:t>
            </a:r>
            <a:endParaRPr lang="en-US" sz="1200" dirty="0"/>
          </a:p>
        </p:txBody>
      </p:sp>
      <p:sp>
        <p:nvSpPr>
          <p:cNvPr id="12" name="Text 10"/>
          <p:cNvSpPr/>
          <p:nvPr/>
        </p:nvSpPr>
        <p:spPr>
          <a:xfrm>
            <a:off x="464515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210</a:t>
            </a:r>
            <a:endParaRPr lang="en-US" sz="1400" dirty="0"/>
          </a:p>
        </p:txBody>
      </p:sp>
      <p:sp>
        <p:nvSpPr>
          <p:cNvPr id="13" name="Text 11"/>
          <p:cNvSpPr/>
          <p:nvPr/>
        </p:nvSpPr>
        <p:spPr>
          <a:xfrm>
            <a:off x="514807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Papers Total</a:t>
            </a:r>
            <a:endParaRPr lang="en-US" sz="1200" dirty="0"/>
          </a:p>
        </p:txBody>
      </p:sp>
      <p:sp>
        <p:nvSpPr>
          <p:cNvPr id="14" name="Text 12"/>
          <p:cNvSpPr/>
          <p:nvPr/>
        </p:nvSpPr>
        <p:spPr>
          <a:xfrm>
            <a:off x="6839712" y="4594860"/>
            <a:ext cx="2011680" cy="256032"/>
          </a:xfrm>
          <a:prstGeom prst="rect">
            <a:avLst/>
          </a:prstGeom>
          <a:noFill/>
          <a:ln/>
        </p:spPr>
        <p:txBody>
          <a:bodyPr wrap="square" lIns="0" tIns="0" rIns="0" bIns="0" rtlCol="0" anchor="ctr"/>
          <a:lstStyle/>
          <a:p>
            <a:pPr marL="0" indent="0">
              <a:buNone/>
            </a:pPr>
            <a:r>
              <a:rPr lang="en-US" sz="1400" b="1" dirty="0">
                <a:solidFill>
                  <a:srgbClr val="BAE6FD"/>
                </a:solidFill>
                <a:latin typeface="Calibri" pitchFamily="34" charset="0"/>
                <a:ea typeface="Calibri" pitchFamily="34" charset="-122"/>
                <a:cs typeface="Calibri" pitchFamily="34" charset="-120"/>
              </a:rPr>
              <a:t>~4,255</a:t>
            </a:r>
            <a:endParaRPr lang="en-US" sz="1400" dirty="0"/>
          </a:p>
        </p:txBody>
      </p:sp>
      <p:sp>
        <p:nvSpPr>
          <p:cNvPr id="15" name="Text 13"/>
          <p:cNvSpPr/>
          <p:nvPr/>
        </p:nvSpPr>
        <p:spPr>
          <a:xfrm>
            <a:off x="7342632" y="459486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Citations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2130</Words>
  <Application>Microsoft Macintosh PowerPoint</Application>
  <PresentationFormat>On-screen Show (16:9)</PresentationFormat>
  <Paragraphs>170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Citation Bias</dc:title>
  <dc:subject>PptxGenJS Presentation</dc:subject>
  <dc:creator>PptxGenJS</dc:creator>
  <cp:lastModifiedBy>Qin, Anthony</cp:lastModifiedBy>
  <cp:revision>2</cp:revision>
  <dcterms:created xsi:type="dcterms:W3CDTF">2026-03-02T05:32:26Z</dcterms:created>
  <dcterms:modified xsi:type="dcterms:W3CDTF">2026-03-02T05:34:31Z</dcterms:modified>
</cp:coreProperties>
</file>